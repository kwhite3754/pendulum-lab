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10B1E">
                  <a:alpha val="96000"/>
                </a:srgbClr>
              </a:gs>
              <a:gs pos="50000">
                <a:srgbClr val="110B1E">
                  <a:alpha val="92000"/>
                </a:srgbClr>
              </a:gs>
              <a:gs pos="100000">
                <a:srgbClr val="110B1E">
                  <a:alpha val="85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79A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9B6D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572720" y="428625"/>
            <a:ext cx="3571280" cy="4286250"/>
          </a:xfrm>
          <a:prstGeom prst="ellipse">
            <a:avLst/>
          </a:prstGeom>
          <a:gradFill rotWithShape="1">
            <a:gsLst>
              <a:gs pos="0">
                <a:srgbClr val="9B6DFF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0397" y="1232074"/>
            <a:ext cx="1822103" cy="26793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5114330"/>
            <a:ext cx="9144000" cy="29170"/>
          </a:xfrm>
          <a:prstGeom prst="rect">
            <a:avLst/>
          </a:prstGeom>
          <a:gradFill rotWithShape="1">
            <a:gsLst>
              <a:gs pos="0">
                <a:srgbClr val="E879A8"/>
              </a:gs>
              <a:gs pos="33333">
                <a:srgbClr val="9B6DFF"/>
              </a:gs>
              <a:gs pos="66667">
                <a:srgbClr val="5B8DEF"/>
              </a:gs>
              <a:gs pos="100000">
                <a:srgbClr val="5B8DEF">
                  <a:alpha val="1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0427" y="1506224"/>
            <a:ext cx="132588" cy="132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1943" y="1503015"/>
            <a:ext cx="210221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E8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SIMULATION PROJECT</a:t>
            </a:r>
            <a:endParaRPr lang="en-US" sz="730" dirty="0"/>
          </a:p>
        </p:txBody>
      </p:sp>
      <p:sp>
        <p:nvSpPr>
          <p:cNvPr id="11" name="Text 6"/>
          <p:cNvSpPr/>
          <p:nvPr/>
        </p:nvSpPr>
        <p:spPr>
          <a:xfrm>
            <a:off x="628650" y="1842641"/>
            <a:ext cx="5101245" cy="898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0"/>
              </a:lnSpc>
              <a:spcAft>
                <a:spcPts val="680"/>
              </a:spcAft>
              <a:buNone/>
            </a:pPr>
            <a:r>
              <a:rPr lang="en-US" sz="2930" spc="-30" kern="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Pendulum Simulation</a:t>
            </a:r>
            <a:br/>
            <a:pPr algn="l" indent="0" marL="0">
              <a:lnSpc>
                <a:spcPts val="3370"/>
              </a:lnSpc>
              <a:spcAft>
                <a:spcPts val="680"/>
              </a:spcAft>
              <a:buNone/>
            </a:pPr>
            <a:r>
              <a:rPr lang="en-US" sz="2930" spc="-30" kern="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pPr algn="l" indent="0" marL="0">
              <a:lnSpc>
                <a:spcPts val="3370"/>
              </a:lnSpc>
              <a:spcAft>
                <a:spcPts val="680"/>
              </a:spcAft>
              <a:buNone/>
            </a:pPr>
            <a:r>
              <a:rPr lang="en-US" sz="2930" spc="-30" kern="0" dirty="0">
                <a:solidFill>
                  <a:srgbClr val="E879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 Wind &amp; Air Resistance</a:t>
            </a:r>
            <a:endParaRPr lang="en-US" sz="2930" dirty="0"/>
          </a:p>
        </p:txBody>
      </p:sp>
      <p:sp>
        <p:nvSpPr>
          <p:cNvPr id="12" name="Text 7"/>
          <p:cNvSpPr/>
          <p:nvPr/>
        </p:nvSpPr>
        <p:spPr>
          <a:xfrm>
            <a:off x="628650" y="2956173"/>
            <a:ext cx="5143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E879A8"/>
              </a:gs>
              <a:gs pos="50000">
                <a:srgbClr val="9B6DFF"/>
              </a:gs>
              <a:gs pos="100000">
                <a:srgbClr val="5B8DEF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628650" y="3178373"/>
            <a:ext cx="8675370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spc="30" kern="0" dirty="0">
                <a:solidFill>
                  <a:srgbClr val="E8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Kadie White</a:t>
            </a:r>
            <a:endParaRPr lang="en-US" sz="1240" dirty="0"/>
          </a:p>
        </p:txBody>
      </p:sp>
      <p:sp>
        <p:nvSpPr>
          <p:cNvPr id="14" name="Text 9"/>
          <p:cNvSpPr/>
          <p:nvPr/>
        </p:nvSpPr>
        <p:spPr>
          <a:xfrm>
            <a:off x="628650" y="3457724"/>
            <a:ext cx="867537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spc="80" kern="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PHYSICS SIMULATION</a:t>
            </a:r>
            <a:endParaRPr lang="en-US" sz="9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1509" y="429220"/>
            <a:ext cx="70991" cy="70991"/>
          </a:xfrm>
          <a:prstGeom prst="ellipse">
            <a:avLst/>
          </a:prstGeom>
          <a:solidFill>
            <a:srgbClr val="9B6DFF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00120" y="857250"/>
            <a:ext cx="43160" cy="43160"/>
          </a:xfrm>
          <a:prstGeom prst="ellipse">
            <a:avLst/>
          </a:prstGeom>
          <a:solidFill>
            <a:srgbClr val="5B8DEF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9220" y="4514850"/>
            <a:ext cx="57150" cy="57150"/>
          </a:xfrm>
          <a:prstGeom prst="ellipse">
            <a:avLst/>
          </a:prstGeom>
          <a:solidFill>
            <a:srgbClr val="E879A8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400050"/>
            <a:ext cx="8561070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10"/>
              </a:lnSpc>
              <a:spcAft>
                <a:spcPts val="340"/>
              </a:spcAft>
              <a:buNone/>
            </a:pPr>
            <a:r>
              <a:rPr lang="en-US" sz="2140" spc="-30" kern="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 Overview</a:t>
            </a:r>
            <a:endParaRPr lang="en-US" sz="2140" dirty="0"/>
          </a:p>
        </p:txBody>
      </p:sp>
      <p:sp>
        <p:nvSpPr>
          <p:cNvPr id="6" name="Text 4"/>
          <p:cNvSpPr/>
          <p:nvPr/>
        </p:nvSpPr>
        <p:spPr>
          <a:xfrm>
            <a:off x="571500" y="850850"/>
            <a:ext cx="400050" cy="21580"/>
          </a:xfrm>
          <a:prstGeom prst="roundRect">
            <a:avLst>
              <a:gd name="adj" fmla="val 64736"/>
            </a:avLst>
          </a:prstGeom>
          <a:solidFill>
            <a:srgbClr val="E879A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1158180"/>
            <a:ext cx="3921770" cy="1771055"/>
          </a:xfrm>
          <a:prstGeom prst="roundRect">
            <a:avLst>
              <a:gd name="adj" fmla="val 5665"/>
            </a:avLst>
          </a:prstGeom>
          <a:solidFill>
            <a:srgbClr val="1F1335"/>
          </a:solidFill>
          <a:ln w="9525">
            <a:solidFill>
              <a:srgbClr val="E879A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9625" y="1368326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E879A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6157" y="1484858"/>
            <a:ext cx="139005" cy="13900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53145" y="1368326"/>
            <a:ext cx="319220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110" kern="0" dirty="0">
                <a:solidFill>
                  <a:srgbClr val="E879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OBJECTIVE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1353145" y="1536502"/>
            <a:ext cx="2960040" cy="396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96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the motion of a pendulum under the combined effects of gravity, wind, and air resistance.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4650730" y="1158180"/>
            <a:ext cx="3921770" cy="1771055"/>
          </a:xfrm>
          <a:prstGeom prst="roundRect">
            <a:avLst>
              <a:gd name="adj" fmla="val 5665"/>
            </a:avLst>
          </a:prstGeom>
          <a:solidFill>
            <a:srgbClr val="1F1335"/>
          </a:solidFill>
          <a:ln w="9525">
            <a:solidFill>
              <a:srgbClr val="E879A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88855" y="1368326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9B6DFF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5388" y="1484858"/>
            <a:ext cx="139005" cy="13900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32375" y="1368326"/>
            <a:ext cx="319220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110" kern="0" dirty="0">
                <a:solidFill>
                  <a:srgbClr val="9B6D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ANALYSIS</a:t>
            </a:r>
            <a:endParaRPr lang="en-US" sz="730" dirty="0"/>
          </a:p>
        </p:txBody>
      </p:sp>
      <p:sp>
        <p:nvSpPr>
          <p:cNvPr id="16" name="Text 12"/>
          <p:cNvSpPr/>
          <p:nvPr/>
        </p:nvSpPr>
        <p:spPr>
          <a:xfrm>
            <a:off x="5432375" y="1536502"/>
            <a:ext cx="2960040" cy="396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96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how energy is dissipated over time and how external forces alter the system dynamics.</a:t>
            </a:r>
            <a:endParaRPr lang="en-US" sz="960" dirty="0"/>
          </a:p>
        </p:txBody>
      </p:sp>
      <p:sp>
        <p:nvSpPr>
          <p:cNvPr id="17" name="Text 13"/>
          <p:cNvSpPr/>
          <p:nvPr/>
        </p:nvSpPr>
        <p:spPr>
          <a:xfrm>
            <a:off x="571500" y="3086695"/>
            <a:ext cx="3921770" cy="1771055"/>
          </a:xfrm>
          <a:prstGeom prst="roundRect">
            <a:avLst>
              <a:gd name="adj" fmla="val 5665"/>
            </a:avLst>
          </a:prstGeom>
          <a:solidFill>
            <a:srgbClr val="1F1335"/>
          </a:solidFill>
          <a:ln w="9525">
            <a:solidFill>
              <a:srgbClr val="5B8DEF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809625" y="3296841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5B8DEF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6157" y="3413373"/>
            <a:ext cx="139005" cy="13900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53145" y="3296841"/>
            <a:ext cx="319220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110" kern="0" dirty="0">
                <a:solidFill>
                  <a:srgbClr val="5B8DE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METHOD</a:t>
            </a:r>
            <a:endParaRPr lang="en-US" sz="730" dirty="0"/>
          </a:p>
        </p:txBody>
      </p:sp>
      <p:sp>
        <p:nvSpPr>
          <p:cNvPr id="21" name="Text 16"/>
          <p:cNvSpPr/>
          <p:nvPr/>
        </p:nvSpPr>
        <p:spPr>
          <a:xfrm>
            <a:off x="1353145" y="3465016"/>
            <a:ext cx="2960040" cy="396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96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numerical ODE solver (Runge-Kutta) using Python's </a:t>
            </a:r>
            <a:pPr algn="l" indent="0" marL="0">
              <a:lnSpc>
                <a:spcPts val="1488"/>
              </a:lnSpc>
              <a:buNone/>
            </a:pPr>
            <a:r>
              <a:rPr lang="en-US" sz="84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scipy.integrate.solve_ivp</a:t>
            </a:r>
            <a:pPr algn="l" indent="0" marL="0">
              <a:lnSpc>
                <a:spcPts val="1488"/>
              </a:lnSpc>
              <a:buNone/>
            </a:pPr>
            <a:r>
              <a:rPr lang="en-US" sz="96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60" dirty="0"/>
          </a:p>
        </p:txBody>
      </p:sp>
      <p:sp>
        <p:nvSpPr>
          <p:cNvPr id="22" name="Text 17"/>
          <p:cNvSpPr/>
          <p:nvPr/>
        </p:nvSpPr>
        <p:spPr>
          <a:xfrm>
            <a:off x="4650730" y="3086695"/>
            <a:ext cx="3921770" cy="1771055"/>
          </a:xfrm>
          <a:prstGeom prst="roundRect">
            <a:avLst>
              <a:gd name="adj" fmla="val 5665"/>
            </a:avLst>
          </a:prstGeom>
          <a:solidFill>
            <a:srgbClr val="1F1335"/>
          </a:solidFill>
          <a:ln w="9525">
            <a:solidFill>
              <a:srgbClr val="E879A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888855" y="3296841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E879A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05388" y="3413373"/>
            <a:ext cx="139005" cy="13900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32375" y="3296841"/>
            <a:ext cx="319220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110" kern="0" dirty="0">
                <a:solidFill>
                  <a:srgbClr val="E879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OUTPUTS</a:t>
            </a:r>
            <a:endParaRPr lang="en-US" sz="730" dirty="0"/>
          </a:p>
        </p:txBody>
      </p:sp>
      <p:sp>
        <p:nvSpPr>
          <p:cNvPr id="26" name="Text 20"/>
          <p:cNvSpPr/>
          <p:nvPr/>
        </p:nvSpPr>
        <p:spPr>
          <a:xfrm>
            <a:off x="5432375" y="3465016"/>
            <a:ext cx="2960040" cy="396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96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time-series plots, energy analysis, phase-space diagrams, and fitted decay models.</a:t>
            </a:r>
            <a:endParaRPr lang="en-US" sz="960" dirty="0"/>
          </a:p>
        </p:txBody>
      </p:sp>
      <p:sp>
        <p:nvSpPr>
          <p:cNvPr id="27" name="Text 21"/>
          <p:cNvSpPr/>
          <p:nvPr/>
        </p:nvSpPr>
        <p:spPr>
          <a:xfrm>
            <a:off x="581025" y="1167705"/>
            <a:ext cx="29170" cy="1752009"/>
          </a:xfrm>
          <a:custGeom>
            <a:avLst/>
            <a:gdLst/>
            <a:ahLst/>
            <a:cxnLst/>
            <a:rect l="l" t="t" r="r" b="b"/>
            <a:pathLst>
              <a:path w="29170" h="1752009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1722407"/>
                </a:lnTo>
                <a:lnTo>
                  <a:pt x="25524" y="1718539"/>
                </a:lnTo>
                <a:lnTo>
                  <a:pt x="21878" y="1714220"/>
                </a:lnTo>
                <a:lnTo>
                  <a:pt x="18231" y="1709351"/>
                </a:lnTo>
                <a:lnTo>
                  <a:pt x="14585" y="1703775"/>
                </a:lnTo>
                <a:lnTo>
                  <a:pt x="10939" y="1697236"/>
                </a:lnTo>
                <a:lnTo>
                  <a:pt x="7293" y="1689232"/>
                </a:lnTo>
                <a:lnTo>
                  <a:pt x="3646" y="1678482"/>
                </a:lnTo>
                <a:lnTo>
                  <a:pt x="0" y="1651680"/>
                </a:lnTo>
                <a:close/>
              </a:path>
            </a:pathLst>
          </a:custGeom>
          <a:solidFill>
            <a:srgbClr val="E879A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4660255" y="1167705"/>
            <a:ext cx="29170" cy="1752009"/>
          </a:xfrm>
          <a:custGeom>
            <a:avLst/>
            <a:gdLst/>
            <a:ahLst/>
            <a:cxnLst/>
            <a:rect l="l" t="t" r="r" b="b"/>
            <a:pathLst>
              <a:path w="29170" h="1752009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1722407"/>
                </a:lnTo>
                <a:lnTo>
                  <a:pt x="25524" y="1718539"/>
                </a:lnTo>
                <a:lnTo>
                  <a:pt x="21878" y="1714220"/>
                </a:lnTo>
                <a:lnTo>
                  <a:pt x="18231" y="1709351"/>
                </a:lnTo>
                <a:lnTo>
                  <a:pt x="14585" y="1703775"/>
                </a:lnTo>
                <a:lnTo>
                  <a:pt x="10939" y="1697236"/>
                </a:lnTo>
                <a:lnTo>
                  <a:pt x="7293" y="1689232"/>
                </a:lnTo>
                <a:lnTo>
                  <a:pt x="3646" y="1678482"/>
                </a:lnTo>
                <a:lnTo>
                  <a:pt x="0" y="1651680"/>
                </a:lnTo>
                <a:close/>
              </a:path>
            </a:pathLst>
          </a:custGeom>
          <a:solidFill>
            <a:srgbClr val="E879A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581025" y="3096220"/>
            <a:ext cx="29170" cy="1752009"/>
          </a:xfrm>
          <a:custGeom>
            <a:avLst/>
            <a:gdLst/>
            <a:ahLst/>
            <a:cxnLst/>
            <a:rect l="l" t="t" r="r" b="b"/>
            <a:pathLst>
              <a:path w="29170" h="1752009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1722407"/>
                </a:lnTo>
                <a:lnTo>
                  <a:pt x="25524" y="1718539"/>
                </a:lnTo>
                <a:lnTo>
                  <a:pt x="21878" y="1714220"/>
                </a:lnTo>
                <a:lnTo>
                  <a:pt x="18231" y="1709351"/>
                </a:lnTo>
                <a:lnTo>
                  <a:pt x="14585" y="1703775"/>
                </a:lnTo>
                <a:lnTo>
                  <a:pt x="10939" y="1697236"/>
                </a:lnTo>
                <a:lnTo>
                  <a:pt x="7293" y="1689232"/>
                </a:lnTo>
                <a:lnTo>
                  <a:pt x="3646" y="1678482"/>
                </a:lnTo>
                <a:lnTo>
                  <a:pt x="0" y="1651680"/>
                </a:lnTo>
                <a:close/>
              </a:path>
            </a:pathLst>
          </a:custGeom>
          <a:solidFill>
            <a:srgbClr val="E879A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660255" y="3096220"/>
            <a:ext cx="29170" cy="1752009"/>
          </a:xfrm>
          <a:custGeom>
            <a:avLst/>
            <a:gdLst/>
            <a:ahLst/>
            <a:cxnLst/>
            <a:rect l="l" t="t" r="r" b="b"/>
            <a:pathLst>
              <a:path w="29170" h="1752009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1722407"/>
                </a:lnTo>
                <a:lnTo>
                  <a:pt x="25524" y="1718539"/>
                </a:lnTo>
                <a:lnTo>
                  <a:pt x="21878" y="1714220"/>
                </a:lnTo>
                <a:lnTo>
                  <a:pt x="18231" y="1709351"/>
                </a:lnTo>
                <a:lnTo>
                  <a:pt x="14585" y="1703775"/>
                </a:lnTo>
                <a:lnTo>
                  <a:pt x="10939" y="1697236"/>
                </a:lnTo>
                <a:lnTo>
                  <a:pt x="7293" y="1689232"/>
                </a:lnTo>
                <a:lnTo>
                  <a:pt x="3646" y="1678482"/>
                </a:lnTo>
                <a:lnTo>
                  <a:pt x="0" y="1651680"/>
                </a:lnTo>
                <a:close/>
              </a:path>
            </a:pathLst>
          </a:custGeom>
          <a:solidFill>
            <a:srgbClr val="E879A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9752" y="707231"/>
            <a:ext cx="1564347" cy="197346"/>
          </a:xfrm>
          <a:prstGeom prst="roundRect">
            <a:avLst>
              <a:gd name="adj" fmla="val 72720"/>
            </a:avLst>
          </a:prstGeom>
          <a:solidFill>
            <a:srgbClr val="E879A8">
              <a:alpha val="12000"/>
            </a:srgbClr>
          </a:solidFill>
          <a:ln/>
        </p:spPr>
        <p:txBody>
          <a:bodyPr wrap="none" lIns="100330" tIns="29210" rIns="100330" bIns="29210" rtlCol="0" anchor="t"/>
          <a:lstStyle/>
          <a:p>
            <a:pPr algn="ctr" indent="0" marL="0">
              <a:buNone/>
            </a:pPr>
            <a:r>
              <a:rPr lang="en-US" sz="730" spc="170" kern="0" dirty="0">
                <a:solidFill>
                  <a:srgbClr val="E8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ODE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3129167" y="1048048"/>
            <a:ext cx="2885517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20"/>
              </a:lnSpc>
              <a:spcAft>
                <a:spcPts val="340"/>
              </a:spcAft>
              <a:buNone/>
            </a:pPr>
            <a:r>
              <a:rPr lang="en-US" sz="2480" spc="-30" kern="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Mathematical Model</a:t>
            </a:r>
            <a:endParaRPr lang="en-US" sz="2480" dirty="0"/>
          </a:p>
        </p:txBody>
      </p:sp>
      <p:sp>
        <p:nvSpPr>
          <p:cNvPr id="4" name="Text 2"/>
          <p:cNvSpPr/>
          <p:nvPr/>
        </p:nvSpPr>
        <p:spPr>
          <a:xfrm>
            <a:off x="4357390" y="1563588"/>
            <a:ext cx="42922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E879A8"/>
              </a:gs>
              <a:gs pos="50000">
                <a:srgbClr val="9B6D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4733" y="1842939"/>
            <a:ext cx="8174385" cy="1154311"/>
          </a:xfrm>
          <a:prstGeom prst="roundRect">
            <a:avLst>
              <a:gd name="adj" fmla="val 9902"/>
            </a:avLst>
          </a:prstGeom>
          <a:gradFill rotWithShape="1">
            <a:gsLst>
              <a:gs pos="0">
                <a:srgbClr val="E879A8">
                  <a:alpha val="8000"/>
                </a:srgbClr>
              </a:gs>
              <a:gs pos="100000">
                <a:srgbClr val="1F1335">
                  <a:alpha val="95000"/>
                </a:srgbClr>
              </a:gs>
            </a:gsLst>
            <a:lin ang="2700000" scaled="1"/>
          </a:gradFill>
          <a:ln w="9525">
            <a:solidFill>
              <a:srgbClr val="9B6D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025" y="2110234"/>
            <a:ext cx="7747800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θ̈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−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/ 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sin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− 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/ 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mL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θ̇ + 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pPr algn="ctr" indent="0" marL="0">
              <a:lnSpc>
                <a:spcPts val="2996"/>
              </a:lnSpc>
              <a:buNone/>
            </a:pPr>
            <a:r>
              <a:rPr lang="en-US" sz="1498" spc="80" kern="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wind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/ 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mL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cos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</a:t>
            </a:r>
            <a:pPr algn="ctr" indent="0" marL="0">
              <a:lnSpc>
                <a:spcPts val="2996"/>
              </a:lnSpc>
              <a:buNone/>
            </a:pPr>
            <a:r>
              <a:rPr lang="en-US" sz="2140" spc="8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214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00967" y="2594158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2614" y="2590949"/>
            <a:ext cx="32251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73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5634" y="2594158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13411" y="2590949"/>
            <a:ext cx="40764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Damping</a:t>
            </a:r>
            <a:endParaRPr lang="en-US" sz="73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7691" y="2594158"/>
            <a:ext cx="132588" cy="132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46732" y="2590949"/>
            <a:ext cx="59983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Forcing</a:t>
            </a:r>
            <a:endParaRPr lang="en-US" sz="730" dirty="0"/>
          </a:p>
        </p:txBody>
      </p:sp>
      <p:sp>
        <p:nvSpPr>
          <p:cNvPr id="13" name="Text 8"/>
          <p:cNvSpPr/>
          <p:nvPr/>
        </p:nvSpPr>
        <p:spPr>
          <a:xfrm>
            <a:off x="3663575" y="3283000"/>
            <a:ext cx="181670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790" spc="140" kern="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DEFINITIONS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143000" y="3547765"/>
            <a:ext cx="2171700" cy="468809"/>
          </a:xfrm>
          <a:prstGeom prst="roundRect">
            <a:avLst>
              <a:gd name="adj" fmla="val 12190"/>
            </a:avLst>
          </a:prstGeom>
          <a:solidFill>
            <a:srgbClr val="1F1335">
              <a:alpha val="70000"/>
            </a:srgbClr>
          </a:solidFill>
          <a:ln w="9525">
            <a:solidFill>
              <a:srgbClr val="9B6D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1266825" y="3614440"/>
            <a:ext cx="39241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</a:t>
            </a:r>
            <a:endParaRPr lang="en-US" sz="1130" dirty="0"/>
          </a:p>
        </p:txBody>
      </p:sp>
      <p:sp>
        <p:nvSpPr>
          <p:cNvPr id="16" name="Text 11"/>
          <p:cNvSpPr/>
          <p:nvPr/>
        </p:nvSpPr>
        <p:spPr>
          <a:xfrm>
            <a:off x="1694557" y="3662065"/>
            <a:ext cx="1407423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84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displacement (rad)</a:t>
            </a:r>
            <a:endParaRPr lang="en-US" sz="840" dirty="0"/>
          </a:p>
        </p:txBody>
      </p:sp>
      <p:sp>
        <p:nvSpPr>
          <p:cNvPr id="17" name="Text 12"/>
          <p:cNvSpPr/>
          <p:nvPr/>
        </p:nvSpPr>
        <p:spPr>
          <a:xfrm>
            <a:off x="3486150" y="3547765"/>
            <a:ext cx="2171700" cy="468809"/>
          </a:xfrm>
          <a:prstGeom prst="roundRect">
            <a:avLst>
              <a:gd name="adj" fmla="val 12190"/>
            </a:avLst>
          </a:prstGeom>
          <a:solidFill>
            <a:srgbClr val="1F1335">
              <a:alpha val="70000"/>
            </a:srgbClr>
          </a:solidFill>
          <a:ln w="9525">
            <a:solidFill>
              <a:srgbClr val="9B6D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3609975" y="3614440"/>
            <a:ext cx="39241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endParaRPr lang="en-US" sz="1130" dirty="0"/>
          </a:p>
        </p:txBody>
      </p:sp>
      <p:sp>
        <p:nvSpPr>
          <p:cNvPr id="19" name="Text 14"/>
          <p:cNvSpPr/>
          <p:nvPr/>
        </p:nvSpPr>
        <p:spPr>
          <a:xfrm>
            <a:off x="4037707" y="3662065"/>
            <a:ext cx="1526244" cy="302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84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Gravitational acceleration (9.81 m/s²)</a:t>
            </a:r>
            <a:endParaRPr lang="en-US" sz="840" dirty="0"/>
          </a:p>
        </p:txBody>
      </p:sp>
      <p:sp>
        <p:nvSpPr>
          <p:cNvPr id="20" name="Text 15"/>
          <p:cNvSpPr/>
          <p:nvPr/>
        </p:nvSpPr>
        <p:spPr>
          <a:xfrm>
            <a:off x="5829300" y="3547765"/>
            <a:ext cx="2171700" cy="468809"/>
          </a:xfrm>
          <a:prstGeom prst="roundRect">
            <a:avLst>
              <a:gd name="adj" fmla="val 12190"/>
            </a:avLst>
          </a:prstGeom>
          <a:solidFill>
            <a:srgbClr val="1F1335">
              <a:alpha val="70000"/>
            </a:srgbClr>
          </a:solidFill>
          <a:ln w="9525">
            <a:solidFill>
              <a:srgbClr val="9B6D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953125" y="3614440"/>
            <a:ext cx="39241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endParaRPr lang="en-US" sz="1130" dirty="0"/>
          </a:p>
        </p:txBody>
      </p:sp>
      <p:sp>
        <p:nvSpPr>
          <p:cNvPr id="22" name="Text 17"/>
          <p:cNvSpPr/>
          <p:nvPr/>
        </p:nvSpPr>
        <p:spPr>
          <a:xfrm>
            <a:off x="6380857" y="3662065"/>
            <a:ext cx="1088187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84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Pendulum length (m)</a:t>
            </a:r>
            <a:endParaRPr lang="en-US" sz="840" dirty="0"/>
          </a:p>
        </p:txBody>
      </p:sp>
      <p:sp>
        <p:nvSpPr>
          <p:cNvPr id="23" name="Text 18"/>
          <p:cNvSpPr/>
          <p:nvPr/>
        </p:nvSpPr>
        <p:spPr>
          <a:xfrm>
            <a:off x="1143000" y="4087564"/>
            <a:ext cx="2171700" cy="348555"/>
          </a:xfrm>
          <a:prstGeom prst="roundRect">
            <a:avLst>
              <a:gd name="adj" fmla="val 16396"/>
            </a:avLst>
          </a:prstGeom>
          <a:solidFill>
            <a:srgbClr val="1F1335">
              <a:alpha val="70000"/>
            </a:srgbClr>
          </a:solidFill>
          <a:ln w="9525">
            <a:solidFill>
              <a:srgbClr val="9B6D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1266825" y="4154239"/>
            <a:ext cx="39241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</a:t>
            </a:r>
            <a:endParaRPr lang="en-US" sz="1130" dirty="0"/>
          </a:p>
        </p:txBody>
      </p:sp>
      <p:sp>
        <p:nvSpPr>
          <p:cNvPr id="25" name="Text 20"/>
          <p:cNvSpPr/>
          <p:nvPr/>
        </p:nvSpPr>
        <p:spPr>
          <a:xfrm>
            <a:off x="1694557" y="4201864"/>
            <a:ext cx="1074926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84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Pendulum mass (kg)</a:t>
            </a:r>
            <a:endParaRPr lang="en-US" sz="840" dirty="0"/>
          </a:p>
        </p:txBody>
      </p:sp>
      <p:sp>
        <p:nvSpPr>
          <p:cNvPr id="26" name="Text 21"/>
          <p:cNvSpPr/>
          <p:nvPr/>
        </p:nvSpPr>
        <p:spPr>
          <a:xfrm>
            <a:off x="3486150" y="4087564"/>
            <a:ext cx="2171700" cy="348555"/>
          </a:xfrm>
          <a:prstGeom prst="roundRect">
            <a:avLst>
              <a:gd name="adj" fmla="val 16396"/>
            </a:avLst>
          </a:prstGeom>
          <a:solidFill>
            <a:srgbClr val="1F1335">
              <a:alpha val="70000"/>
            </a:srgbClr>
          </a:solidFill>
          <a:ln w="9525">
            <a:solidFill>
              <a:srgbClr val="9B6D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3609975" y="4154239"/>
            <a:ext cx="39241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</a:t>
            </a:r>
            <a:endParaRPr lang="en-US" sz="1130" dirty="0"/>
          </a:p>
        </p:txBody>
      </p:sp>
      <p:sp>
        <p:nvSpPr>
          <p:cNvPr id="28" name="Text 23"/>
          <p:cNvSpPr/>
          <p:nvPr/>
        </p:nvSpPr>
        <p:spPr>
          <a:xfrm>
            <a:off x="4037707" y="4201864"/>
            <a:ext cx="1353071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84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Damping coefficient (kg/s)</a:t>
            </a:r>
            <a:endParaRPr lang="en-US" sz="840" dirty="0"/>
          </a:p>
        </p:txBody>
      </p:sp>
      <p:sp>
        <p:nvSpPr>
          <p:cNvPr id="29" name="Text 24"/>
          <p:cNvSpPr/>
          <p:nvPr/>
        </p:nvSpPr>
        <p:spPr>
          <a:xfrm>
            <a:off x="5829300" y="4087564"/>
            <a:ext cx="2171700" cy="348555"/>
          </a:xfrm>
          <a:prstGeom prst="roundRect">
            <a:avLst>
              <a:gd name="adj" fmla="val 16396"/>
            </a:avLst>
          </a:prstGeom>
          <a:solidFill>
            <a:srgbClr val="1F1335">
              <a:alpha val="70000"/>
            </a:srgbClr>
          </a:solidFill>
          <a:ln w="9525">
            <a:solidFill>
              <a:srgbClr val="9B6D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5953125" y="4154239"/>
            <a:ext cx="39241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Fwind</a:t>
            </a:r>
            <a:endParaRPr lang="en-US" sz="1130" dirty="0"/>
          </a:p>
        </p:txBody>
      </p:sp>
      <p:sp>
        <p:nvSpPr>
          <p:cNvPr id="31" name="Text 26"/>
          <p:cNvSpPr/>
          <p:nvPr/>
        </p:nvSpPr>
        <p:spPr>
          <a:xfrm>
            <a:off x="6380857" y="4201864"/>
            <a:ext cx="1153180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84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wind force (N)</a:t>
            </a:r>
            <a:endParaRPr lang="en-US" sz="840" dirty="0"/>
          </a:p>
        </p:txBody>
      </p:sp>
      <p:sp>
        <p:nvSpPr>
          <p:cNvPr id="32" name="Text 27"/>
          <p:cNvSpPr/>
          <p:nvPr/>
        </p:nvSpPr>
        <p:spPr>
          <a:xfrm>
            <a:off x="486638" y="1844844"/>
            <a:ext cx="8170516" cy="1150439"/>
          </a:xfrm>
          <a:prstGeom prst="roundRect">
            <a:avLst>
              <a:gd name="adj" fmla="val 9935"/>
            </a:avLst>
          </a:prstGeom>
          <a:gradFill rotWithShape="1">
            <a:gsLst>
              <a:gs pos="0">
                <a:srgbClr val="E879A8">
                  <a:alpha val="40000"/>
                </a:srgbClr>
              </a:gs>
              <a:gs pos="50000">
                <a:srgbClr val="9B6DFF">
                  <a:alpha val="20000"/>
                </a:srgbClr>
              </a:gs>
              <a:gs pos="8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452" y="342900"/>
            <a:ext cx="876109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2700" spc="-27" kern="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Forces in the System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-17145" y="914400"/>
            <a:ext cx="9178290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10"/>
              </a:lnSpc>
              <a:spcBef>
                <a:spcPts val="450"/>
              </a:spcBef>
              <a:buNone/>
            </a:pPr>
            <a:r>
              <a:rPr lang="en-US" sz="1140" spc="34" kern="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forces acting on the pendulum bob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400050" y="1389311"/>
            <a:ext cx="3939480" cy="3754189"/>
          </a:xfrm>
          <a:prstGeom prst="roundRect">
            <a:avLst>
              <a:gd name="adj" fmla="val 3045"/>
            </a:avLst>
          </a:prstGeom>
          <a:solidFill>
            <a:srgbClr val="1F1335"/>
          </a:solidFill>
          <a:ln w="9525">
            <a:solidFill>
              <a:srgbClr val="E879A8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0195" y="1627436"/>
            <a:ext cx="342900" cy="342900"/>
          </a:xfrm>
          <a:prstGeom prst="ellipse">
            <a:avLst/>
          </a:prstGeom>
          <a:solidFill>
            <a:srgbClr val="E879A8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351" y="1732592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3405" y="1627436"/>
            <a:ext cx="12505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Wind Force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0195" y="2200126"/>
            <a:ext cx="3519190" cy="1047451"/>
          </a:xfrm>
          <a:prstGeom prst="roundRect">
            <a:avLst>
              <a:gd name="adj" fmla="val 6790"/>
            </a:avLst>
          </a:prstGeom>
          <a:solidFill>
            <a:srgbClr val="110B1E">
              <a:alpha val="70000"/>
            </a:srgbClr>
          </a:solidFill>
          <a:ln w="9525">
            <a:solidFill>
              <a:srgbClr val="E879A8">
                <a:alpha val="10000"/>
              </a:srgbClr>
            </a:solidFill>
          </a:ln>
        </p:spPr>
        <p:txBody>
          <a:bodyPr wrap="square" lIns="143510" tIns="114300" rIns="143510" bIns="114300" rtlCol="0" anchor="t"/>
          <a:lstStyle/>
          <a:p>
            <a:pPr algn="l" indent="0" marL="0">
              <a:buNone/>
            </a:pPr>
            <a:r>
              <a:rPr lang="en-US" sz="864" spc="104" kern="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</a:t>
            </a:r>
            <a:endParaRPr lang="en-US" sz="864" dirty="0"/>
          </a:p>
          <a:p>
            <a:pPr algn="l" indent="0" marL="0">
              <a:buNone/>
            </a:pPr>
            <a:r>
              <a:rPr lang="en-US" sz="1860" spc="37" kern="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F</a:t>
            </a:r>
            <a:pPr algn="l" indent="0" marL="0">
              <a:buNone/>
            </a:pPr>
            <a:r>
              <a:rPr lang="en-US" sz="1395" spc="37" kern="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wind</a:t>
            </a:r>
            <a:pPr algn="l" indent="0" marL="0">
              <a:buNone/>
            </a:pPr>
            <a:r>
              <a:rPr lang="en-US" sz="1860" spc="37" kern="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F</a:t>
            </a:r>
            <a:pPr algn="l" indent="0" marL="0">
              <a:buNone/>
            </a:pPr>
            <a:r>
              <a:rPr lang="en-US" sz="1395" spc="37" kern="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</a:t>
            </a:r>
            <a:pPr algn="l" indent="0" marL="0">
              <a:buNone/>
            </a:pPr>
            <a:pPr algn="l" indent="0" marL="0">
              <a:buNone/>
            </a:pPr>
            <a:endParaRPr lang="en-US" sz="864" dirty="0"/>
          </a:p>
          <a:p>
            <a:pPr algn="l" indent="0" marL="0">
              <a:buNone/>
            </a:pPr>
            <a:r>
              <a:rPr lang="en-US" sz="936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(constant horizontal force)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610195" y="3389709"/>
            <a:ext cx="3519190" cy="833760"/>
          </a:xfrm>
          <a:prstGeom prst="roundRect">
            <a:avLst>
              <a:gd name="adj" fmla="val 8530"/>
            </a:avLst>
          </a:prstGeom>
          <a:solidFill>
            <a:srgbClr val="110B1E">
              <a:alpha val="70000"/>
            </a:srgbClr>
          </a:solidFill>
          <a:ln w="9525">
            <a:solidFill>
              <a:srgbClr val="E879A8">
                <a:alpha val="10000"/>
              </a:srgbClr>
            </a:solidFill>
          </a:ln>
        </p:spPr>
        <p:txBody>
          <a:bodyPr wrap="square" lIns="143510" tIns="114300" rIns="143510" bIns="114300" rtlCol="0" anchor="t"/>
          <a:lstStyle/>
          <a:p>
            <a:pPr algn="l" indent="0" marL="0">
              <a:buNone/>
            </a:pPr>
            <a:r>
              <a:rPr lang="en-US" sz="864" spc="104" kern="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CONTRIBUTION</a:t>
            </a:r>
            <a:endParaRPr lang="en-US" sz="864" dirty="0"/>
          </a:p>
          <a:p>
            <a:pPr algn="l" indent="0" marL="0">
              <a:buNone/>
            </a:pPr>
            <a:r>
              <a:rPr lang="en-US" sz="1860" spc="37" kern="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τ</a:t>
            </a:r>
            <a:pPr algn="l" indent="0" marL="0">
              <a:buNone/>
            </a:pPr>
            <a:r>
              <a:rPr lang="en-US" sz="1395" spc="37" kern="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wind</a:t>
            </a:r>
            <a:pPr algn="l" indent="0" marL="0">
              <a:buNone/>
            </a:pPr>
            <a:r>
              <a:rPr lang="en-US" sz="1860" spc="37" kern="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F</a:t>
            </a:r>
            <a:pPr algn="l" indent="0" marL="0">
              <a:buNone/>
            </a:pPr>
            <a:r>
              <a:rPr lang="en-US" sz="1395" spc="37" kern="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</a:t>
            </a:r>
            <a:pPr algn="l" indent="0" marL="0">
              <a:buNone/>
            </a:pPr>
            <a:r>
              <a:rPr lang="en-US" sz="1860" spc="37" kern="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L · cos(θ)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610195" y="4285506"/>
            <a:ext cx="3589574" cy="776503"/>
          </a:xfrm>
          <a:prstGeom prst="rect">
            <a:avLst/>
          </a:prstGeom>
          <a:noFill/>
          <a:ln/>
        </p:spPr>
        <p:txBody>
          <a:bodyPr wrap="square" lIns="0" tIns="8636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056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constant horizontal force applied to the pendulum bob. Its angular contribution depends on the instantaneous angle </a:t>
            </a:r>
            <a:pPr algn="l" indent="0" marL="0">
              <a:lnSpc>
                <a:spcPts val="1690"/>
              </a:lnSpc>
              <a:buNone/>
            </a:pPr>
            <a:r>
              <a:rPr lang="en-US" sz="1104" spc="22" kern="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</a:t>
            </a:r>
            <a:pPr algn="l" indent="0" marL="0">
              <a:lnSpc>
                <a:spcPts val="1690"/>
              </a:lnSpc>
              <a:buNone/>
            </a:pPr>
            <a:r>
              <a:rPr lang="en-US" sz="1056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coupling wind effects to the pendulum geometry.</a:t>
            </a:r>
            <a:endParaRPr lang="en-US" sz="1056" dirty="0"/>
          </a:p>
        </p:txBody>
      </p:sp>
      <p:sp>
        <p:nvSpPr>
          <p:cNvPr id="11" name="Text 8"/>
          <p:cNvSpPr/>
          <p:nvPr/>
        </p:nvSpPr>
        <p:spPr>
          <a:xfrm>
            <a:off x="4568130" y="1389311"/>
            <a:ext cx="7590" cy="3754189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9B6D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804321" y="1389311"/>
            <a:ext cx="3939629" cy="3754189"/>
          </a:xfrm>
          <a:prstGeom prst="roundRect">
            <a:avLst>
              <a:gd name="adj" fmla="val 3045"/>
            </a:avLst>
          </a:prstGeom>
          <a:solidFill>
            <a:srgbClr val="1F1335"/>
          </a:solidFill>
          <a:ln w="9525">
            <a:solidFill>
              <a:srgbClr val="E879A8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014466" y="1627436"/>
            <a:ext cx="342900" cy="342900"/>
          </a:xfrm>
          <a:prstGeom prst="ellipse">
            <a:avLst/>
          </a:prstGeom>
          <a:solidFill>
            <a:srgbClr val="5B8DEF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9622" y="1732592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57676" y="1627436"/>
            <a:ext cx="157701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Air Resistance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014466" y="2200126"/>
            <a:ext cx="3519339" cy="1047451"/>
          </a:xfrm>
          <a:prstGeom prst="roundRect">
            <a:avLst>
              <a:gd name="adj" fmla="val 6790"/>
            </a:avLst>
          </a:prstGeom>
          <a:solidFill>
            <a:srgbClr val="110B1E">
              <a:alpha val="70000"/>
            </a:srgbClr>
          </a:solidFill>
          <a:ln w="9525">
            <a:solidFill>
              <a:srgbClr val="E879A8">
                <a:alpha val="10000"/>
              </a:srgbClr>
            </a:solidFill>
          </a:ln>
        </p:spPr>
        <p:txBody>
          <a:bodyPr wrap="square" lIns="143510" tIns="114300" rIns="143510" bIns="114300" rtlCol="0" anchor="t"/>
          <a:lstStyle/>
          <a:p>
            <a:pPr algn="l" indent="0" marL="0">
              <a:buNone/>
            </a:pPr>
            <a:r>
              <a:rPr lang="en-US" sz="864" spc="104" kern="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FORCE</a:t>
            </a:r>
            <a:endParaRPr lang="en-US" sz="864" dirty="0"/>
          </a:p>
          <a:p>
            <a:pPr algn="l" indent="0" marL="0">
              <a:buNone/>
            </a:pPr>
            <a:r>
              <a:rPr lang="en-US" sz="1860" spc="37" kern="0" dirty="0">
                <a:solidFill>
                  <a:srgbClr val="5B8DE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F</a:t>
            </a:r>
            <a:pPr algn="l" indent="0" marL="0">
              <a:buNone/>
            </a:pPr>
            <a:r>
              <a:rPr lang="en-US" sz="1395" spc="37" kern="0" dirty="0">
                <a:solidFill>
                  <a:srgbClr val="5B8DE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drag</a:t>
            </a:r>
            <a:pPr algn="l" indent="0" marL="0">
              <a:buNone/>
            </a:pPr>
            <a:r>
              <a:rPr lang="en-US" sz="1860" spc="37" kern="0" dirty="0">
                <a:solidFill>
                  <a:srgbClr val="5B8DE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−b · v = −b · L · θ̇</a:t>
            </a:r>
            <a:pPr algn="l" indent="0" marL="0">
              <a:buNone/>
            </a:pPr>
            <a:endParaRPr lang="en-US" sz="864" dirty="0"/>
          </a:p>
          <a:p>
            <a:pPr algn="l" indent="0" marL="0">
              <a:buNone/>
            </a:pPr>
            <a:r>
              <a:rPr lang="en-US" sz="936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(velocity-dependent damping)</a:t>
            </a:r>
            <a:endParaRPr lang="en-US" sz="864" dirty="0"/>
          </a:p>
        </p:txBody>
      </p:sp>
      <p:sp>
        <p:nvSpPr>
          <p:cNvPr id="17" name="Text 13"/>
          <p:cNvSpPr/>
          <p:nvPr/>
        </p:nvSpPr>
        <p:spPr>
          <a:xfrm>
            <a:off x="5014466" y="3389709"/>
            <a:ext cx="3519339" cy="833760"/>
          </a:xfrm>
          <a:prstGeom prst="roundRect">
            <a:avLst>
              <a:gd name="adj" fmla="val 8530"/>
            </a:avLst>
          </a:prstGeom>
          <a:solidFill>
            <a:srgbClr val="110B1E">
              <a:alpha val="70000"/>
            </a:srgbClr>
          </a:solidFill>
          <a:ln w="9525">
            <a:solidFill>
              <a:srgbClr val="E879A8">
                <a:alpha val="10000"/>
              </a:srgbClr>
            </a:solidFill>
          </a:ln>
        </p:spPr>
        <p:txBody>
          <a:bodyPr wrap="square" lIns="143510" tIns="114300" rIns="143510" bIns="114300" rtlCol="0" anchor="t"/>
          <a:lstStyle/>
          <a:p>
            <a:pPr algn="l" indent="0" marL="0">
              <a:buNone/>
            </a:pPr>
            <a:r>
              <a:rPr lang="en-US" sz="864" spc="104" kern="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CONTRIBUTION</a:t>
            </a:r>
            <a:endParaRPr lang="en-US" sz="864" dirty="0"/>
          </a:p>
          <a:p>
            <a:pPr algn="l" indent="0" marL="0">
              <a:buNone/>
            </a:pPr>
            <a:r>
              <a:rPr lang="en-US" sz="1860" spc="37" kern="0" dirty="0">
                <a:solidFill>
                  <a:srgbClr val="5B8DE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τ</a:t>
            </a:r>
            <a:pPr algn="l" indent="0" marL="0">
              <a:buNone/>
            </a:pPr>
            <a:r>
              <a:rPr lang="en-US" sz="1395" spc="37" kern="0" dirty="0">
                <a:solidFill>
                  <a:srgbClr val="5B8DE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drag</a:t>
            </a:r>
            <a:pPr algn="l" indent="0" marL="0">
              <a:buNone/>
            </a:pPr>
            <a:r>
              <a:rPr lang="en-US" sz="1860" spc="37" kern="0" dirty="0">
                <a:solidFill>
                  <a:srgbClr val="5B8DE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−b · L² · θ̇</a:t>
            </a:r>
            <a:endParaRPr lang="en-US" sz="864" dirty="0"/>
          </a:p>
        </p:txBody>
      </p:sp>
      <p:sp>
        <p:nvSpPr>
          <p:cNvPr id="18" name="Text 14"/>
          <p:cNvSpPr/>
          <p:nvPr/>
        </p:nvSpPr>
        <p:spPr>
          <a:xfrm>
            <a:off x="5014466" y="4285506"/>
            <a:ext cx="3589725" cy="776503"/>
          </a:xfrm>
          <a:prstGeom prst="rect">
            <a:avLst/>
          </a:prstGeom>
          <a:noFill/>
          <a:ln/>
        </p:spPr>
        <p:txBody>
          <a:bodyPr wrap="square" lIns="0" tIns="8636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056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velocity-dependent damping force opposing motion. Proportional to angular velocity with damping coefficient </a:t>
            </a:r>
            <a:pPr algn="l" indent="0" marL="0">
              <a:lnSpc>
                <a:spcPts val="1690"/>
              </a:lnSpc>
              <a:buNone/>
            </a:pPr>
            <a:r>
              <a:rPr lang="en-US" sz="1104" spc="22" kern="0" dirty="0">
                <a:solidFill>
                  <a:srgbClr val="5B8DE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</a:t>
            </a:r>
            <a:pPr algn="l" indent="0" marL="0">
              <a:lnSpc>
                <a:spcPts val="1690"/>
              </a:lnSpc>
              <a:buNone/>
            </a:pPr>
            <a:r>
              <a:rPr lang="en-US" sz="1056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this force is responsible for energy dissipation.</a:t>
            </a:r>
            <a:endParaRPr lang="en-US" sz="1056" dirty="0"/>
          </a:p>
        </p:txBody>
      </p:sp>
      <p:sp>
        <p:nvSpPr>
          <p:cNvPr id="19" name="Text 15"/>
          <p:cNvSpPr/>
          <p:nvPr/>
        </p:nvSpPr>
        <p:spPr>
          <a:xfrm>
            <a:off x="3355181" y="5406628"/>
            <a:ext cx="26770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EXTERNAL FORCES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09575" y="1398836"/>
            <a:ext cx="3920433" cy="21580"/>
          </a:xfrm>
          <a:custGeom>
            <a:avLst/>
            <a:gdLst/>
            <a:ahLst/>
            <a:cxnLst/>
            <a:rect l="l" t="t" r="r" b="b"/>
            <a:pathLst>
              <a:path w="3920433" h="21580">
                <a:moveTo>
                  <a:pt x="114300" y="0"/>
                </a:moveTo>
                <a:lnTo>
                  <a:pt x="3806133" y="0"/>
                </a:lnTo>
                <a:lnTo>
                  <a:pt x="3830818" y="2698"/>
                </a:lnTo>
                <a:lnTo>
                  <a:pt x="3840834" y="5395"/>
                </a:lnTo>
                <a:lnTo>
                  <a:pt x="3848376" y="8093"/>
                </a:lnTo>
                <a:lnTo>
                  <a:pt x="3854611" y="10790"/>
                </a:lnTo>
                <a:lnTo>
                  <a:pt x="3859997" y="13488"/>
                </a:lnTo>
                <a:lnTo>
                  <a:pt x="3864767" y="16185"/>
                </a:lnTo>
                <a:lnTo>
                  <a:pt x="3869061" y="18883"/>
                </a:lnTo>
                <a:lnTo>
                  <a:pt x="3872972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E879A8"/>
              </a:gs>
              <a:gs pos="100000">
                <a:srgbClr val="9B6DFF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813846" y="1398836"/>
            <a:ext cx="3920576" cy="21580"/>
          </a:xfrm>
          <a:custGeom>
            <a:avLst/>
            <a:gdLst/>
            <a:ahLst/>
            <a:cxnLst/>
            <a:rect l="l" t="t" r="r" b="b"/>
            <a:pathLst>
              <a:path w="3920576" h="21580">
                <a:moveTo>
                  <a:pt x="114300" y="0"/>
                </a:moveTo>
                <a:lnTo>
                  <a:pt x="3806276" y="0"/>
                </a:lnTo>
                <a:lnTo>
                  <a:pt x="3830961" y="2698"/>
                </a:lnTo>
                <a:lnTo>
                  <a:pt x="3840977" y="5395"/>
                </a:lnTo>
                <a:lnTo>
                  <a:pt x="3848519" y="8093"/>
                </a:lnTo>
                <a:lnTo>
                  <a:pt x="3854754" y="10790"/>
                </a:lnTo>
                <a:lnTo>
                  <a:pt x="3860140" y="13488"/>
                </a:lnTo>
                <a:lnTo>
                  <a:pt x="3864910" y="16185"/>
                </a:lnTo>
                <a:lnTo>
                  <a:pt x="3869204" y="18883"/>
                </a:lnTo>
                <a:lnTo>
                  <a:pt x="3873115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220" y="342900"/>
            <a:ext cx="1815584" cy="244376"/>
          </a:xfrm>
          <a:prstGeom prst="roundRect">
            <a:avLst>
              <a:gd name="adj" fmla="val 58725"/>
            </a:avLst>
          </a:prstGeom>
          <a:solidFill>
            <a:srgbClr val="E879A8">
              <a:alpha val="10000"/>
            </a:srgbClr>
          </a:solidFill>
          <a:ln w="9525">
            <a:solidFill>
              <a:srgbClr val="E879A8">
                <a:alpha val="25000"/>
              </a:srgbClr>
            </a:solidFill>
          </a:ln>
        </p:spPr>
        <p:txBody>
          <a:bodyPr wrap="none" lIns="260579" tIns="43180" rIns="128270" bIns="43180" rtlCol="0" anchor="ctr"/>
          <a:lstStyle/>
          <a:p>
            <a:pPr algn="l" indent="0" marL="0">
              <a:buNone/>
            </a:pPr>
            <a:r>
              <a:rPr lang="en-US" sz="730" b="1" spc="58" kern="0" dirty="0">
                <a:solidFill>
                  <a:srgbClr val="E8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METHOD</a:t>
            </a:r>
            <a:endParaRPr lang="en-US" sz="73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171" y="398719"/>
            <a:ext cx="132588" cy="13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9220" y="687586"/>
            <a:ext cx="4953691" cy="65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61"/>
              </a:lnSpc>
              <a:spcBef>
                <a:spcPts val="790"/>
              </a:spcBef>
              <a:buNone/>
            </a:pPr>
            <a:r>
              <a:rPr lang="en-US" sz="2140" spc="-21" kern="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Numerical Method</a:t>
            </a:r>
            <a:pPr algn="l" indent="0" marL="0">
              <a:lnSpc>
                <a:spcPts val="2461"/>
              </a:lnSpc>
              <a:spcBef>
                <a:spcPts val="790"/>
              </a:spcBef>
              <a:buNone/>
            </a:pPr>
            <a:r>
              <a:rPr lang="en-US" sz="2140" b="1" spc="-21" kern="0" dirty="0">
                <a:solidFill>
                  <a:srgbClr val="E879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:</a:t>
            </a:r>
            <a:br/>
            <a:pPr algn="l" indent="0" marL="0">
              <a:lnSpc>
                <a:spcPts val="2461"/>
              </a:lnSpc>
              <a:spcBef>
                <a:spcPts val="790"/>
              </a:spcBef>
              <a:buNone/>
            </a:pPr>
            <a:r>
              <a:rPr lang="en-US" sz="2140" spc="-21" kern="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Runge-Kutta </a:t>
            </a:r>
            <a:pPr algn="l" indent="0" marL="0">
              <a:lnSpc>
                <a:spcPts val="2461"/>
              </a:lnSpc>
              <a:spcBef>
                <a:spcPts val="790"/>
              </a:spcBef>
              <a:buNone/>
            </a:pPr>
            <a:r>
              <a:rPr lang="en-US" sz="2140" b="1" spc="-21" kern="0" dirty="0">
                <a:solidFill>
                  <a:srgbClr val="E879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(RK45)</a:t>
            </a:r>
            <a:endParaRPr lang="en-US" sz="2140" dirty="0"/>
          </a:p>
        </p:txBody>
      </p:sp>
      <p:sp>
        <p:nvSpPr>
          <p:cNvPr id="5" name="Text 2"/>
          <p:cNvSpPr/>
          <p:nvPr/>
        </p:nvSpPr>
        <p:spPr>
          <a:xfrm>
            <a:off x="429220" y="1512987"/>
            <a:ext cx="4856559" cy="1114127"/>
          </a:xfrm>
          <a:prstGeom prst="roundRect">
            <a:avLst>
              <a:gd name="adj" fmla="val 9005"/>
            </a:avLst>
          </a:prstGeom>
          <a:solidFill>
            <a:srgbClr val="1F1335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29220" y="1512987"/>
            <a:ext cx="28575" cy="1114127"/>
          </a:xfrm>
          <a:custGeom>
            <a:avLst/>
            <a:gdLst/>
            <a:ahLst/>
            <a:cxnLst/>
            <a:rect l="l" t="t" r="r" b="b"/>
            <a:pathLst>
              <a:path w="28575" h="1114127">
                <a:moveTo>
                  <a:pt x="0" y="100330"/>
                </a:moveTo>
                <a:lnTo>
                  <a:pt x="3572" y="73797"/>
                </a:lnTo>
                <a:lnTo>
                  <a:pt x="7144" y="63149"/>
                </a:lnTo>
                <a:lnTo>
                  <a:pt x="10716" y="55215"/>
                </a:lnTo>
                <a:lnTo>
                  <a:pt x="14288" y="48727"/>
                </a:lnTo>
                <a:lnTo>
                  <a:pt x="17859" y="43192"/>
                </a:lnTo>
                <a:lnTo>
                  <a:pt x="21431" y="38353"/>
                </a:lnTo>
                <a:lnTo>
                  <a:pt x="25003" y="34058"/>
                </a:lnTo>
                <a:lnTo>
                  <a:pt x="28575" y="30206"/>
                </a:lnTo>
                <a:lnTo>
                  <a:pt x="28575" y="1083921"/>
                </a:lnTo>
                <a:lnTo>
                  <a:pt x="25003" y="1080069"/>
                </a:lnTo>
                <a:lnTo>
                  <a:pt x="21431" y="1075774"/>
                </a:lnTo>
                <a:lnTo>
                  <a:pt x="17859" y="1070935"/>
                </a:lnTo>
                <a:lnTo>
                  <a:pt x="14288" y="1065400"/>
                </a:lnTo>
                <a:lnTo>
                  <a:pt x="10716" y="1058913"/>
                </a:lnTo>
                <a:lnTo>
                  <a:pt x="7144" y="1050979"/>
                </a:lnTo>
                <a:lnTo>
                  <a:pt x="3572" y="1040330"/>
                </a:lnTo>
                <a:lnTo>
                  <a:pt x="0" y="1013798"/>
                </a:lnTo>
                <a:close/>
              </a:path>
            </a:pathLst>
          </a:custGeom>
          <a:solidFill>
            <a:srgbClr val="E879A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72405" y="1713607"/>
            <a:ext cx="314920" cy="346412"/>
          </a:xfrm>
          <a:prstGeom prst="ellipse">
            <a:avLst/>
          </a:prstGeom>
          <a:gradFill rotWithShape="1">
            <a:gsLst>
              <a:gs pos="0">
                <a:srgbClr val="E879A8"/>
              </a:gs>
              <a:gs pos="100000">
                <a:srgbClr val="9B6DFF"/>
              </a:gs>
            </a:gsLst>
            <a:lin ang="27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10B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130" dirty="0"/>
          </a:p>
        </p:txBody>
      </p:sp>
      <p:sp>
        <p:nvSpPr>
          <p:cNvPr id="8" name="Text 5"/>
          <p:cNvSpPr/>
          <p:nvPr/>
        </p:nvSpPr>
        <p:spPr>
          <a:xfrm>
            <a:off x="1130796" y="1713607"/>
            <a:ext cx="4334411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5"/>
              </a:lnSpc>
              <a:buNone/>
            </a:pPr>
            <a:r>
              <a:rPr lang="en-US" sz="1070" b="1" spc="21" kern="0" dirty="0">
                <a:solidFill>
                  <a:srgbClr val="E879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ODE Solver</a:t>
            </a:r>
            <a:endParaRPr lang="en-US" sz="1070" dirty="0"/>
          </a:p>
        </p:txBody>
      </p:sp>
      <p:sp>
        <p:nvSpPr>
          <p:cNvPr id="9" name="Text 6"/>
          <p:cNvSpPr/>
          <p:nvPr/>
        </p:nvSpPr>
        <p:spPr>
          <a:xfrm>
            <a:off x="1124505" y="2117973"/>
            <a:ext cx="641678" cy="129480"/>
          </a:xfrm>
          <a:prstGeom prst="roundRect">
            <a:avLst>
              <a:gd name="adj" fmla="val 22559"/>
            </a:avLst>
          </a:prstGeom>
          <a:solidFill>
            <a:srgbClr val="0D0818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90" dirty="0">
                <a:solidFill>
                  <a:srgbClr val="F0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solve_ivp</a:t>
            </a:r>
            <a:endParaRPr lang="en-US" sz="790" dirty="0"/>
          </a:p>
        </p:txBody>
      </p:sp>
      <p:sp>
        <p:nvSpPr>
          <p:cNvPr id="10" name="Text 7"/>
          <p:cNvSpPr/>
          <p:nvPr/>
        </p:nvSpPr>
        <p:spPr>
          <a:xfrm>
            <a:off x="829270" y="2627114"/>
            <a:ext cx="29170" cy="11430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E879A8">
                  <a:alpha val="50000"/>
                </a:srgbClr>
              </a:gs>
              <a:gs pos="100000">
                <a:srgbClr val="E879A8">
                  <a:alpha val="1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29220" y="2741414"/>
            <a:ext cx="4856559" cy="954137"/>
          </a:xfrm>
          <a:prstGeom prst="roundRect">
            <a:avLst>
              <a:gd name="adj" fmla="val 10515"/>
            </a:avLst>
          </a:prstGeom>
          <a:solidFill>
            <a:srgbClr val="1F1335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29220" y="2741414"/>
            <a:ext cx="28575" cy="954137"/>
          </a:xfrm>
          <a:custGeom>
            <a:avLst/>
            <a:gdLst/>
            <a:ahLst/>
            <a:cxnLst/>
            <a:rect l="l" t="t" r="r" b="b"/>
            <a:pathLst>
              <a:path w="28575" h="954137">
                <a:moveTo>
                  <a:pt x="0" y="100330"/>
                </a:moveTo>
                <a:lnTo>
                  <a:pt x="3572" y="73797"/>
                </a:lnTo>
                <a:lnTo>
                  <a:pt x="7144" y="63149"/>
                </a:lnTo>
                <a:lnTo>
                  <a:pt x="10716" y="55215"/>
                </a:lnTo>
                <a:lnTo>
                  <a:pt x="14288" y="48727"/>
                </a:lnTo>
                <a:lnTo>
                  <a:pt x="17859" y="43192"/>
                </a:lnTo>
                <a:lnTo>
                  <a:pt x="21431" y="38353"/>
                </a:lnTo>
                <a:lnTo>
                  <a:pt x="25003" y="34058"/>
                </a:lnTo>
                <a:lnTo>
                  <a:pt x="28575" y="30206"/>
                </a:lnTo>
                <a:lnTo>
                  <a:pt x="28575" y="923931"/>
                </a:lnTo>
                <a:lnTo>
                  <a:pt x="25003" y="920079"/>
                </a:lnTo>
                <a:lnTo>
                  <a:pt x="21431" y="915784"/>
                </a:lnTo>
                <a:lnTo>
                  <a:pt x="17859" y="910945"/>
                </a:lnTo>
                <a:lnTo>
                  <a:pt x="14288" y="905410"/>
                </a:lnTo>
                <a:lnTo>
                  <a:pt x="10716" y="898922"/>
                </a:lnTo>
                <a:lnTo>
                  <a:pt x="7144" y="890988"/>
                </a:lnTo>
                <a:lnTo>
                  <a:pt x="3572" y="880340"/>
                </a:lnTo>
                <a:lnTo>
                  <a:pt x="0" y="853807"/>
                </a:lnTo>
                <a:close/>
              </a:path>
            </a:pathLst>
          </a:custGeom>
          <a:solidFill>
            <a:srgbClr val="E879A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72405" y="2942034"/>
            <a:ext cx="314920" cy="346412"/>
          </a:xfrm>
          <a:prstGeom prst="ellipse">
            <a:avLst/>
          </a:prstGeom>
          <a:gradFill rotWithShape="1">
            <a:gsLst>
              <a:gs pos="0">
                <a:srgbClr val="E879A8"/>
              </a:gs>
              <a:gs pos="100000">
                <a:srgbClr val="9B6DFF"/>
              </a:gs>
            </a:gsLst>
            <a:lin ang="27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10B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130" dirty="0"/>
          </a:p>
        </p:txBody>
      </p:sp>
      <p:sp>
        <p:nvSpPr>
          <p:cNvPr id="14" name="Text 11"/>
          <p:cNvSpPr/>
          <p:nvPr/>
        </p:nvSpPr>
        <p:spPr>
          <a:xfrm>
            <a:off x="1130796" y="2942034"/>
            <a:ext cx="4334411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5"/>
              </a:lnSpc>
              <a:buNone/>
            </a:pPr>
            <a:r>
              <a:rPr lang="en-US" sz="1070" b="1" spc="21" kern="0" dirty="0">
                <a:solidFill>
                  <a:srgbClr val="E879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 Vector</a:t>
            </a:r>
            <a:endParaRPr lang="en-US" sz="1070" dirty="0"/>
          </a:p>
        </p:txBody>
      </p:sp>
      <p:sp>
        <p:nvSpPr>
          <p:cNvPr id="15" name="Text 12"/>
          <p:cNvSpPr/>
          <p:nvPr/>
        </p:nvSpPr>
        <p:spPr>
          <a:xfrm>
            <a:off x="1130796" y="3174950"/>
            <a:ext cx="4019181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expressed as two first-order ODEs: </a:t>
            </a:r>
            <a:pPr algn="l" indent="0" marL="0">
              <a:lnSpc>
                <a:spcPts val="1262"/>
              </a:lnSpc>
              <a:buNone/>
            </a:pPr>
            <a:r>
              <a:rPr lang="en-US" sz="870" i="1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dθ/dt = ω</a:t>
            </a:r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l" indent="0" marL="0">
              <a:lnSpc>
                <a:spcPts val="1262"/>
              </a:lnSpc>
              <a:buNone/>
            </a:pPr>
            <a:r>
              <a:rPr lang="en-US" sz="870" i="1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dω/dt = f(θ, ω, t)</a:t>
            </a:r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forming the state vector </a:t>
            </a:r>
            <a:pPr algn="l" indent="0" marL="0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E8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[θ, ω]</a:t>
            </a:r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70" dirty="0"/>
          </a:p>
        </p:txBody>
      </p:sp>
      <p:sp>
        <p:nvSpPr>
          <p:cNvPr id="16" name="Text 13"/>
          <p:cNvSpPr/>
          <p:nvPr/>
        </p:nvSpPr>
        <p:spPr>
          <a:xfrm>
            <a:off x="829270" y="3695551"/>
            <a:ext cx="29170" cy="11430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E879A8">
                  <a:alpha val="50000"/>
                </a:srgbClr>
              </a:gs>
              <a:gs pos="100000">
                <a:srgbClr val="E879A8">
                  <a:alpha val="1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29220" y="3809851"/>
            <a:ext cx="4856559" cy="954137"/>
          </a:xfrm>
          <a:prstGeom prst="roundRect">
            <a:avLst>
              <a:gd name="adj" fmla="val 10515"/>
            </a:avLst>
          </a:prstGeom>
          <a:solidFill>
            <a:srgbClr val="1F1335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29220" y="3809851"/>
            <a:ext cx="28575" cy="954137"/>
          </a:xfrm>
          <a:custGeom>
            <a:avLst/>
            <a:gdLst/>
            <a:ahLst/>
            <a:cxnLst/>
            <a:rect l="l" t="t" r="r" b="b"/>
            <a:pathLst>
              <a:path w="28575" h="954137">
                <a:moveTo>
                  <a:pt x="0" y="100330"/>
                </a:moveTo>
                <a:lnTo>
                  <a:pt x="3572" y="73797"/>
                </a:lnTo>
                <a:lnTo>
                  <a:pt x="7144" y="63149"/>
                </a:lnTo>
                <a:lnTo>
                  <a:pt x="10716" y="55215"/>
                </a:lnTo>
                <a:lnTo>
                  <a:pt x="14288" y="48727"/>
                </a:lnTo>
                <a:lnTo>
                  <a:pt x="17859" y="43192"/>
                </a:lnTo>
                <a:lnTo>
                  <a:pt x="21431" y="38353"/>
                </a:lnTo>
                <a:lnTo>
                  <a:pt x="25003" y="34058"/>
                </a:lnTo>
                <a:lnTo>
                  <a:pt x="28575" y="30206"/>
                </a:lnTo>
                <a:lnTo>
                  <a:pt x="28575" y="923931"/>
                </a:lnTo>
                <a:lnTo>
                  <a:pt x="25003" y="920079"/>
                </a:lnTo>
                <a:lnTo>
                  <a:pt x="21431" y="915784"/>
                </a:lnTo>
                <a:lnTo>
                  <a:pt x="17859" y="910945"/>
                </a:lnTo>
                <a:lnTo>
                  <a:pt x="14288" y="905410"/>
                </a:lnTo>
                <a:lnTo>
                  <a:pt x="10716" y="898922"/>
                </a:lnTo>
                <a:lnTo>
                  <a:pt x="7144" y="890988"/>
                </a:lnTo>
                <a:lnTo>
                  <a:pt x="3572" y="880340"/>
                </a:lnTo>
                <a:lnTo>
                  <a:pt x="0" y="853807"/>
                </a:lnTo>
                <a:close/>
              </a:path>
            </a:pathLst>
          </a:custGeom>
          <a:solidFill>
            <a:srgbClr val="E879A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72405" y="4010471"/>
            <a:ext cx="314920" cy="346412"/>
          </a:xfrm>
          <a:prstGeom prst="ellipse">
            <a:avLst/>
          </a:prstGeom>
          <a:gradFill rotWithShape="1">
            <a:gsLst>
              <a:gs pos="0">
                <a:srgbClr val="E879A8"/>
              </a:gs>
              <a:gs pos="100000">
                <a:srgbClr val="9B6DFF"/>
              </a:gs>
            </a:gsLst>
            <a:lin ang="27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10B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130" dirty="0"/>
          </a:p>
        </p:txBody>
      </p:sp>
      <p:sp>
        <p:nvSpPr>
          <p:cNvPr id="20" name="Text 17"/>
          <p:cNvSpPr/>
          <p:nvPr/>
        </p:nvSpPr>
        <p:spPr>
          <a:xfrm>
            <a:off x="1130796" y="4010471"/>
            <a:ext cx="4334411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5"/>
              </a:lnSpc>
              <a:buNone/>
            </a:pPr>
            <a:r>
              <a:rPr lang="en-US" sz="1070" b="1" spc="21" kern="0" dirty="0">
                <a:solidFill>
                  <a:srgbClr val="E879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Initial Conditions</a:t>
            </a:r>
            <a:endParaRPr lang="en-US" sz="1070" dirty="0"/>
          </a:p>
        </p:txBody>
      </p:sp>
      <p:sp>
        <p:nvSpPr>
          <p:cNvPr id="21" name="Text 18"/>
          <p:cNvSpPr/>
          <p:nvPr/>
        </p:nvSpPr>
        <p:spPr>
          <a:xfrm>
            <a:off x="1130796" y="4243388"/>
            <a:ext cx="4019181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solver accepts initial angle </a:t>
            </a:r>
            <a:pPr algn="l" indent="0" marL="0">
              <a:lnSpc>
                <a:spcPts val="1262"/>
              </a:lnSpc>
              <a:buNone/>
            </a:pPr>
            <a:r>
              <a:rPr lang="en-US" sz="870" i="1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θ₀</a:t>
            </a:r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angular velocity </a:t>
            </a:r>
            <a:pPr algn="l" indent="0" marL="0">
              <a:lnSpc>
                <a:spcPts val="1262"/>
              </a:lnSpc>
              <a:buNone/>
            </a:pPr>
            <a:r>
              <a:rPr lang="en-US" sz="870" i="1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ω₀</a:t>
            </a:r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computes the full time evolution of the system.</a:t>
            </a:r>
            <a:endParaRPr lang="en-US" sz="870" dirty="0"/>
          </a:p>
        </p:txBody>
      </p:sp>
      <p:sp>
        <p:nvSpPr>
          <p:cNvPr id="22" name="Text 19"/>
          <p:cNvSpPr/>
          <p:nvPr/>
        </p:nvSpPr>
        <p:spPr>
          <a:xfrm>
            <a:off x="5572720" y="342900"/>
            <a:ext cx="3142059" cy="1594098"/>
          </a:xfrm>
          <a:prstGeom prst="roundRect">
            <a:avLst>
              <a:gd name="adj" fmla="val 7170"/>
            </a:avLst>
          </a:prstGeom>
          <a:gradFill rotWithShape="1">
            <a:gsLst>
              <a:gs pos="0">
                <a:srgbClr val="E879A8">
                  <a:alpha val="8000"/>
                </a:srgbClr>
              </a:gs>
              <a:gs pos="100000">
                <a:srgbClr val="9B6DFF">
                  <a:alpha val="6000"/>
                </a:srgbClr>
              </a:gs>
            </a:gsLst>
            <a:lin ang="2700000" scaled="1"/>
          </a:gradFill>
          <a:ln w="9525">
            <a:solidFill>
              <a:srgbClr val="E879A8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053087" y="342900"/>
            <a:ext cx="661692" cy="642620"/>
          </a:xfrm>
          <a:custGeom>
            <a:avLst/>
            <a:gdLst/>
            <a:ahLst/>
            <a:cxnLst/>
            <a:rect l="l" t="t" r="r" b="b"/>
            <a:pathLst>
              <a:path w="661692" h="642620">
                <a:moveTo>
                  <a:pt x="661692" y="570578"/>
                </a:moveTo>
                <a:lnTo>
                  <a:pt x="630677" y="592009"/>
                </a:lnTo>
                <a:lnTo>
                  <a:pt x="592653" y="609993"/>
                </a:lnTo>
                <a:lnTo>
                  <a:pt x="553048" y="624164"/>
                </a:lnTo>
                <a:lnTo>
                  <a:pt x="512246" y="634384"/>
                </a:lnTo>
                <a:lnTo>
                  <a:pt x="470638" y="640556"/>
                </a:lnTo>
                <a:lnTo>
                  <a:pt x="428625" y="642620"/>
                </a:lnTo>
                <a:lnTo>
                  <a:pt x="386612" y="640556"/>
                </a:lnTo>
                <a:lnTo>
                  <a:pt x="345004" y="634384"/>
                </a:lnTo>
                <a:lnTo>
                  <a:pt x="304202" y="624164"/>
                </a:lnTo>
                <a:lnTo>
                  <a:pt x="264597" y="609993"/>
                </a:lnTo>
                <a:lnTo>
                  <a:pt x="226573" y="592009"/>
                </a:lnTo>
                <a:lnTo>
                  <a:pt x="190494" y="570384"/>
                </a:lnTo>
                <a:lnTo>
                  <a:pt x="156708" y="545327"/>
                </a:lnTo>
                <a:lnTo>
                  <a:pt x="125541" y="517079"/>
                </a:lnTo>
                <a:lnTo>
                  <a:pt x="97293" y="485912"/>
                </a:lnTo>
                <a:lnTo>
                  <a:pt x="72236" y="452127"/>
                </a:lnTo>
                <a:lnTo>
                  <a:pt x="50611" y="416048"/>
                </a:lnTo>
                <a:lnTo>
                  <a:pt x="32627" y="378023"/>
                </a:lnTo>
                <a:lnTo>
                  <a:pt x="18456" y="338419"/>
                </a:lnTo>
                <a:lnTo>
                  <a:pt x="8236" y="297616"/>
                </a:lnTo>
                <a:lnTo>
                  <a:pt x="2064" y="256008"/>
                </a:lnTo>
                <a:lnTo>
                  <a:pt x="0" y="213995"/>
                </a:lnTo>
                <a:lnTo>
                  <a:pt x="2064" y="171983"/>
                </a:lnTo>
                <a:lnTo>
                  <a:pt x="8236" y="130375"/>
                </a:lnTo>
                <a:lnTo>
                  <a:pt x="18456" y="89572"/>
                </a:lnTo>
                <a:lnTo>
                  <a:pt x="32627" y="49968"/>
                </a:lnTo>
                <a:lnTo>
                  <a:pt x="50611" y="11943"/>
                </a:lnTo>
                <a:lnTo>
                  <a:pt x="60023" y="0"/>
                </a:lnTo>
                <a:lnTo>
                  <a:pt x="547392" y="0"/>
                </a:lnTo>
                <a:lnTo>
                  <a:pt x="569691" y="2196"/>
                </a:lnTo>
                <a:lnTo>
                  <a:pt x="591133" y="8701"/>
                </a:lnTo>
                <a:lnTo>
                  <a:pt x="610894" y="19263"/>
                </a:lnTo>
                <a:lnTo>
                  <a:pt x="628215" y="33478"/>
                </a:lnTo>
                <a:lnTo>
                  <a:pt x="642429" y="50798"/>
                </a:lnTo>
                <a:lnTo>
                  <a:pt x="652992" y="70559"/>
                </a:lnTo>
                <a:lnTo>
                  <a:pt x="659496" y="92001"/>
                </a:lnTo>
                <a:lnTo>
                  <a:pt x="661692" y="114300"/>
                </a:lnTo>
                <a:close/>
              </a:path>
            </a:pathLst>
          </a:custGeom>
          <a:gradFill rotWithShape="1">
            <a:gsLst>
              <a:gs pos="0">
                <a:srgbClr val="9B6DFF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753695" y="553045"/>
            <a:ext cx="305812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73" kern="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RK45 ITERATION STEPS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5753695" y="806351"/>
            <a:ext cx="400050" cy="440055"/>
          </a:xfrm>
          <a:prstGeom prst="roundRect">
            <a:avLst>
              <a:gd name="adj" fmla="val 21587"/>
            </a:avLst>
          </a:prstGeom>
          <a:gradFill rotWithShape="1">
            <a:gsLst>
              <a:gs pos="0">
                <a:srgbClr val="E879A8"/>
              </a:gs>
              <a:gs pos="100000">
                <a:srgbClr val="D4548E"/>
              </a:gs>
            </a:gsLst>
            <a:lin ang="27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0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k₁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749695" y="1249561"/>
            <a:ext cx="408051" cy="247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at</a:t>
            </a:r>
            <a:br/>
            <a:pPr algn="ct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62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0906" y="1029527"/>
            <a:ext cx="198882" cy="13258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547098" y="806351"/>
            <a:ext cx="400050" cy="440055"/>
          </a:xfrm>
          <a:prstGeom prst="roundRect">
            <a:avLst>
              <a:gd name="adj" fmla="val 21587"/>
            </a:avLst>
          </a:prstGeom>
          <a:gradFill rotWithShape="1">
            <a:gsLst>
              <a:gs pos="0">
                <a:srgbClr val="9B6DFF"/>
              </a:gs>
              <a:gs pos="100000">
                <a:srgbClr val="7C4FE0"/>
              </a:gs>
            </a:gsLst>
            <a:lin ang="27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0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k₂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543098" y="1249561"/>
            <a:ext cx="408051" cy="247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at</a:t>
            </a:r>
            <a:br/>
            <a:pPr algn="ct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</a:t>
            </a:r>
            <a:endParaRPr lang="en-US" sz="62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4309" y="1029527"/>
            <a:ext cx="198882" cy="13258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340352" y="806351"/>
            <a:ext cx="400050" cy="440055"/>
          </a:xfrm>
          <a:prstGeom prst="roundRect">
            <a:avLst>
              <a:gd name="adj" fmla="val 21587"/>
            </a:avLst>
          </a:prstGeom>
          <a:gradFill rotWithShape="1">
            <a:gsLst>
              <a:gs pos="0">
                <a:srgbClr val="5B8DEF"/>
              </a:gs>
              <a:gs pos="100000">
                <a:srgbClr val="4270D4"/>
              </a:gs>
            </a:gsLst>
            <a:lin ang="27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k₃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7336351" y="1249561"/>
            <a:ext cx="408051" cy="247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br/>
            <a:pPr algn="ct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</a:t>
            </a:r>
            <a:endParaRPr lang="en-US" sz="62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37712" y="1029527"/>
            <a:ext cx="198882" cy="13258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133755" y="806351"/>
            <a:ext cx="400050" cy="440055"/>
          </a:xfrm>
          <a:prstGeom prst="roundRect">
            <a:avLst>
              <a:gd name="adj" fmla="val 21587"/>
            </a:avLst>
          </a:prstGeom>
          <a:gradFill rotWithShape="1">
            <a:gsLst>
              <a:gs pos="0">
                <a:srgbClr val="E879A8"/>
              </a:gs>
              <a:gs pos="100000">
                <a:srgbClr val="9B6DFF"/>
              </a:gs>
            </a:gsLst>
            <a:lin ang="27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0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k₄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8129754" y="1249561"/>
            <a:ext cx="408051" cy="247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at</a:t>
            </a:r>
            <a:br/>
            <a:pPr algn="ct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620" dirty="0"/>
          </a:p>
        </p:txBody>
      </p:sp>
      <p:sp>
        <p:nvSpPr>
          <p:cNvPr id="36" name="Text 30"/>
          <p:cNvSpPr/>
          <p:nvPr/>
        </p:nvSpPr>
        <p:spPr>
          <a:xfrm>
            <a:off x="5725894" y="1599902"/>
            <a:ext cx="2835712" cy="254645"/>
          </a:xfrm>
          <a:prstGeom prst="rect">
            <a:avLst/>
          </a:prstGeom>
          <a:noFill/>
          <a:ln/>
        </p:spPr>
        <p:txBody>
          <a:bodyPr wrap="none" lIns="0" tIns="10033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ctr" indent="0" marL="0">
              <a:buNone/>
            </a:pPr>
            <a:r>
              <a:rPr lang="en-US" sz="76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n+1</a:t>
            </a:r>
            <a:pPr algn="ctr" indent="0" marL="0">
              <a:buNone/>
            </a:pPr>
            <a:r>
              <a:rPr lang="en-US" sz="76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y</a:t>
            </a:r>
            <a:pPr algn="ctr" indent="0" marL="0">
              <a:buNone/>
            </a:pPr>
            <a:r>
              <a:rPr lang="en-US" sz="76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ctr" indent="0" marL="0">
              <a:buNone/>
            </a:pPr>
            <a:r>
              <a:rPr lang="en-US" sz="76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ctr" indent="0" marL="0">
              <a:buNone/>
            </a:pPr>
            <a:r>
              <a:rPr lang="en-US" sz="760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¹⁄₆</a:t>
            </a:r>
            <a:pPr algn="ctr" indent="0" marL="0">
              <a:buNone/>
            </a:pPr>
            <a:r>
              <a:rPr lang="en-US" sz="76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(k₁ + 2k₂ + 2k₃ + k₄)·h</a:t>
            </a:r>
            <a:endParaRPr lang="en-US" sz="760" dirty="0"/>
          </a:p>
        </p:txBody>
      </p:sp>
      <p:sp>
        <p:nvSpPr>
          <p:cNvPr id="37" name="Text 31"/>
          <p:cNvSpPr/>
          <p:nvPr/>
        </p:nvSpPr>
        <p:spPr>
          <a:xfrm>
            <a:off x="5753695" y="1599902"/>
            <a:ext cx="2780109" cy="9525"/>
          </a:xfrm>
          <a:prstGeom prst="rect">
            <a:avLst/>
          </a:prstGeom>
          <a:solidFill>
            <a:srgbClr val="B8A0D6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5572720" y="2108448"/>
            <a:ext cx="3142059" cy="2500610"/>
          </a:xfrm>
          <a:prstGeom prst="roundRect">
            <a:avLst>
              <a:gd name="adj" fmla="val 4012"/>
            </a:avLst>
          </a:prstGeom>
          <a:solidFill>
            <a:srgbClr val="1F1335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5572720" y="2108448"/>
            <a:ext cx="28575" cy="2500610"/>
          </a:xfrm>
          <a:custGeom>
            <a:avLst/>
            <a:gdLst/>
            <a:ahLst/>
            <a:cxnLst/>
            <a:rect l="l" t="t" r="r" b="b"/>
            <a:pathLst>
              <a:path w="28575" h="2500610">
                <a:moveTo>
                  <a:pt x="0" y="100330"/>
                </a:moveTo>
                <a:lnTo>
                  <a:pt x="3572" y="73797"/>
                </a:lnTo>
                <a:lnTo>
                  <a:pt x="7144" y="63149"/>
                </a:lnTo>
                <a:lnTo>
                  <a:pt x="10716" y="55215"/>
                </a:lnTo>
                <a:lnTo>
                  <a:pt x="14288" y="48727"/>
                </a:lnTo>
                <a:lnTo>
                  <a:pt x="17859" y="43192"/>
                </a:lnTo>
                <a:lnTo>
                  <a:pt x="21431" y="38353"/>
                </a:lnTo>
                <a:lnTo>
                  <a:pt x="25003" y="34058"/>
                </a:lnTo>
                <a:lnTo>
                  <a:pt x="28575" y="30206"/>
                </a:lnTo>
                <a:lnTo>
                  <a:pt x="28575" y="2470404"/>
                </a:lnTo>
                <a:lnTo>
                  <a:pt x="25003" y="2466552"/>
                </a:lnTo>
                <a:lnTo>
                  <a:pt x="21431" y="2462257"/>
                </a:lnTo>
                <a:lnTo>
                  <a:pt x="17859" y="2457418"/>
                </a:lnTo>
                <a:lnTo>
                  <a:pt x="14288" y="2451883"/>
                </a:lnTo>
                <a:lnTo>
                  <a:pt x="10716" y="2445396"/>
                </a:lnTo>
                <a:lnTo>
                  <a:pt x="7144" y="2437461"/>
                </a:lnTo>
                <a:lnTo>
                  <a:pt x="3572" y="2426813"/>
                </a:lnTo>
                <a:lnTo>
                  <a:pt x="0" y="2400280"/>
                </a:lnTo>
                <a:close/>
              </a:path>
            </a:pathLst>
          </a:custGeom>
          <a:solidFill>
            <a:srgbClr val="E879A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5815905" y="2309068"/>
            <a:ext cx="314920" cy="346412"/>
          </a:xfrm>
          <a:prstGeom prst="ellipse">
            <a:avLst/>
          </a:prstGeom>
          <a:gradFill rotWithShape="1">
            <a:gsLst>
              <a:gs pos="0">
                <a:srgbClr val="E879A8"/>
              </a:gs>
              <a:gs pos="100000">
                <a:srgbClr val="9B6DFF"/>
              </a:gs>
            </a:gsLst>
            <a:lin ang="27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10B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130" dirty="0"/>
          </a:p>
        </p:txBody>
      </p:sp>
      <p:sp>
        <p:nvSpPr>
          <p:cNvPr id="41" name="Text 35"/>
          <p:cNvSpPr/>
          <p:nvPr/>
        </p:nvSpPr>
        <p:spPr>
          <a:xfrm>
            <a:off x="6274296" y="2309068"/>
            <a:ext cx="2448461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5"/>
              </a:lnSpc>
              <a:buNone/>
            </a:pPr>
            <a:r>
              <a:rPr lang="en-US" sz="1070" b="1" spc="21" kern="0" dirty="0">
                <a:solidFill>
                  <a:srgbClr val="E879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Implementation</a:t>
            </a:r>
            <a:endParaRPr lang="en-US" sz="1070" dirty="0"/>
          </a:p>
        </p:txBody>
      </p:sp>
      <p:sp>
        <p:nvSpPr>
          <p:cNvPr id="42" name="Text 36"/>
          <p:cNvSpPr/>
          <p:nvPr/>
        </p:nvSpPr>
        <p:spPr>
          <a:xfrm>
            <a:off x="6274296" y="2541984"/>
            <a:ext cx="2270391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87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call to scipy's adaptive RK45 integrator:</a:t>
            </a:r>
            <a:endParaRPr lang="en-US" sz="870" dirty="0"/>
          </a:p>
        </p:txBody>
      </p:sp>
      <p:sp>
        <p:nvSpPr>
          <p:cNvPr id="43" name="Text 37"/>
          <p:cNvSpPr/>
          <p:nvPr/>
        </p:nvSpPr>
        <p:spPr>
          <a:xfrm>
            <a:off x="6274296" y="2932956"/>
            <a:ext cx="2225873" cy="1475482"/>
          </a:xfrm>
          <a:prstGeom prst="roundRect">
            <a:avLst>
              <a:gd name="adj" fmla="val 4820"/>
            </a:avLst>
          </a:prstGeom>
          <a:solidFill>
            <a:srgbClr val="0D0818"/>
          </a:solidFill>
          <a:ln w="9525">
            <a:solidFill>
              <a:srgbClr val="3B2858"/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6455271" y="3089672"/>
            <a:ext cx="2347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0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6739830" y="3089672"/>
            <a:ext cx="7825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6882110" y="3089672"/>
            <a:ext cx="70395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solve_ivp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7522071" y="3089672"/>
            <a:ext cx="7825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6739682" y="3261122"/>
            <a:ext cx="6257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0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pendulum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7308503" y="3261122"/>
            <a:ext cx="7825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</p:txBody>
      </p:sp>
      <p:sp>
        <p:nvSpPr>
          <p:cNvPr id="50" name="Text 44"/>
          <p:cNvSpPr/>
          <p:nvPr/>
        </p:nvSpPr>
        <p:spPr>
          <a:xfrm>
            <a:off x="6739682" y="3432572"/>
            <a:ext cx="7825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900" dirty="0"/>
          </a:p>
        </p:txBody>
      </p:sp>
      <p:sp>
        <p:nvSpPr>
          <p:cNvPr id="51" name="Text 45"/>
          <p:cNvSpPr/>
          <p:nvPr/>
        </p:nvSpPr>
        <p:spPr>
          <a:xfrm>
            <a:off x="6810821" y="3432572"/>
            <a:ext cx="7825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0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6881961" y="3432572"/>
            <a:ext cx="7825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7024241" y="3432572"/>
            <a:ext cx="3911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0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t_max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7379791" y="3432572"/>
            <a:ext cx="15650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900" dirty="0"/>
          </a:p>
        </p:txBody>
      </p:sp>
      <p:sp>
        <p:nvSpPr>
          <p:cNvPr id="55" name="Text 49"/>
          <p:cNvSpPr/>
          <p:nvPr/>
        </p:nvSpPr>
        <p:spPr>
          <a:xfrm>
            <a:off x="6739682" y="3604022"/>
            <a:ext cx="7825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900" dirty="0"/>
          </a:p>
        </p:txBody>
      </p:sp>
      <p:sp>
        <p:nvSpPr>
          <p:cNvPr id="56" name="Text 50"/>
          <p:cNvSpPr/>
          <p:nvPr/>
        </p:nvSpPr>
        <p:spPr>
          <a:xfrm>
            <a:off x="6810821" y="3604022"/>
            <a:ext cx="15650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0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θ₀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6953101" y="3604022"/>
            <a:ext cx="7825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</p:txBody>
      </p:sp>
      <p:sp>
        <p:nvSpPr>
          <p:cNvPr id="58" name="Text 52"/>
          <p:cNvSpPr/>
          <p:nvPr/>
        </p:nvSpPr>
        <p:spPr>
          <a:xfrm>
            <a:off x="7095381" y="3604022"/>
            <a:ext cx="15650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0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ω₀</a:t>
            </a:r>
            <a:endParaRPr lang="en-US" sz="900" dirty="0"/>
          </a:p>
        </p:txBody>
      </p:sp>
      <p:sp>
        <p:nvSpPr>
          <p:cNvPr id="59" name="Text 53"/>
          <p:cNvSpPr/>
          <p:nvPr/>
        </p:nvSpPr>
        <p:spPr>
          <a:xfrm>
            <a:off x="7237661" y="3604022"/>
            <a:ext cx="15650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900" dirty="0"/>
          </a:p>
        </p:txBody>
      </p:sp>
      <p:sp>
        <p:nvSpPr>
          <p:cNvPr id="60" name="Text 54"/>
          <p:cNvSpPr/>
          <p:nvPr/>
        </p:nvSpPr>
        <p:spPr>
          <a:xfrm>
            <a:off x="6739682" y="3775472"/>
            <a:ext cx="4693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0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t_eval</a:t>
            </a:r>
            <a:endParaRPr lang="en-US" sz="900" dirty="0"/>
          </a:p>
        </p:txBody>
      </p:sp>
      <p:sp>
        <p:nvSpPr>
          <p:cNvPr id="61" name="Text 55"/>
          <p:cNvSpPr/>
          <p:nvPr/>
        </p:nvSpPr>
        <p:spPr>
          <a:xfrm>
            <a:off x="7166372" y="3775472"/>
            <a:ext cx="7825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900" dirty="0"/>
          </a:p>
        </p:txBody>
      </p:sp>
      <p:sp>
        <p:nvSpPr>
          <p:cNvPr id="62" name="Text 56"/>
          <p:cNvSpPr/>
          <p:nvPr/>
        </p:nvSpPr>
        <p:spPr>
          <a:xfrm>
            <a:off x="7237512" y="3775472"/>
            <a:ext cx="7825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0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00" dirty="0"/>
          </a:p>
        </p:txBody>
      </p:sp>
      <p:sp>
        <p:nvSpPr>
          <p:cNvPr id="63" name="Text 57"/>
          <p:cNvSpPr/>
          <p:nvPr/>
        </p:nvSpPr>
        <p:spPr>
          <a:xfrm>
            <a:off x="7308652" y="3775472"/>
            <a:ext cx="7825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</p:txBody>
      </p:sp>
      <p:sp>
        <p:nvSpPr>
          <p:cNvPr id="64" name="Text 58"/>
          <p:cNvSpPr/>
          <p:nvPr/>
        </p:nvSpPr>
        <p:spPr>
          <a:xfrm>
            <a:off x="6739682" y="3946922"/>
            <a:ext cx="4693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0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900" dirty="0"/>
          </a:p>
        </p:txBody>
      </p:sp>
      <p:sp>
        <p:nvSpPr>
          <p:cNvPr id="65" name="Text 59"/>
          <p:cNvSpPr/>
          <p:nvPr/>
        </p:nvSpPr>
        <p:spPr>
          <a:xfrm>
            <a:off x="7166372" y="3946922"/>
            <a:ext cx="7825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900" dirty="0"/>
          </a:p>
        </p:txBody>
      </p:sp>
      <p:sp>
        <p:nvSpPr>
          <p:cNvPr id="66" name="Text 60"/>
          <p:cNvSpPr/>
          <p:nvPr/>
        </p:nvSpPr>
        <p:spPr>
          <a:xfrm>
            <a:off x="7237512" y="3946922"/>
            <a:ext cx="4693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"RK45"</a:t>
            </a:r>
            <a:endParaRPr lang="en-US" sz="900" dirty="0"/>
          </a:p>
        </p:txBody>
      </p:sp>
      <p:sp>
        <p:nvSpPr>
          <p:cNvPr id="67" name="Text 61"/>
          <p:cNvSpPr/>
          <p:nvPr/>
        </p:nvSpPr>
        <p:spPr>
          <a:xfrm>
            <a:off x="6455271" y="4118372"/>
            <a:ext cx="7825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pic>
        <p:nvPicPr>
          <p:cNvPr id="6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78459" y="4752761"/>
            <a:ext cx="132588" cy="132588"/>
          </a:xfrm>
          <a:prstGeom prst="rect">
            <a:avLst/>
          </a:prstGeom>
        </p:spPr>
      </p:pic>
      <p:sp>
        <p:nvSpPr>
          <p:cNvPr id="69" name="Text 62"/>
          <p:cNvSpPr/>
          <p:nvPr/>
        </p:nvSpPr>
        <p:spPr>
          <a:xfrm>
            <a:off x="5744766" y="4752529"/>
            <a:ext cx="2884587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step size ensures accuracy while minimizing computation</a:t>
            </a:r>
            <a:endParaRPr lang="en-US" sz="700" dirty="0"/>
          </a:p>
        </p:txBody>
      </p:sp>
      <p:sp>
        <p:nvSpPr>
          <p:cNvPr id="70" name="Text 63"/>
          <p:cNvSpPr/>
          <p:nvPr/>
        </p:nvSpPr>
        <p:spPr>
          <a:xfrm>
            <a:off x="6283821" y="2942481"/>
            <a:ext cx="2206828" cy="21580"/>
          </a:xfrm>
          <a:custGeom>
            <a:avLst/>
            <a:gdLst/>
            <a:ahLst/>
            <a:cxnLst/>
            <a:rect l="l" t="t" r="r" b="b"/>
            <a:pathLst>
              <a:path w="2206828" h="21580">
                <a:moveTo>
                  <a:pt x="71120" y="0"/>
                </a:moveTo>
                <a:lnTo>
                  <a:pt x="2135708" y="0"/>
                </a:lnTo>
                <a:lnTo>
                  <a:pt x="2155110" y="2698"/>
                </a:lnTo>
                <a:lnTo>
                  <a:pt x="2162879" y="5395"/>
                </a:lnTo>
                <a:lnTo>
                  <a:pt x="2168656" y="8093"/>
                </a:lnTo>
                <a:lnTo>
                  <a:pt x="2173369" y="10790"/>
                </a:lnTo>
                <a:lnTo>
                  <a:pt x="2177380" y="13488"/>
                </a:lnTo>
                <a:lnTo>
                  <a:pt x="2180877" y="16185"/>
                </a:lnTo>
                <a:lnTo>
                  <a:pt x="2183971" y="18883"/>
                </a:lnTo>
                <a:lnTo>
                  <a:pt x="2186736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gradFill rotWithShape="1">
            <a:gsLst>
              <a:gs pos="0">
                <a:srgbClr val="E879A8"/>
              </a:gs>
              <a:gs pos="50000">
                <a:srgbClr val="9B6DFF"/>
              </a:gs>
              <a:gs pos="100000">
                <a:srgbClr val="5B8DEF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8780" y="0"/>
            <a:ext cx="2715220" cy="2286000"/>
          </a:xfrm>
          <a:prstGeom prst="ellipse">
            <a:avLst/>
          </a:prstGeom>
          <a:gradFill rotWithShape="1">
            <a:gsLst>
              <a:gs pos="0">
                <a:srgbClr val="9B6DFF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357860"/>
            <a:ext cx="1929110" cy="1785640"/>
          </a:xfrm>
          <a:prstGeom prst="ellipse">
            <a:avLst/>
          </a:prstGeom>
          <a:gradFill rotWithShape="1">
            <a:gsLst>
              <a:gs pos="0">
                <a:srgbClr val="E879A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" y="1308646"/>
            <a:ext cx="2590352" cy="21580"/>
          </a:xfrm>
          <a:custGeom>
            <a:avLst/>
            <a:gdLst/>
            <a:ahLst/>
            <a:cxnLst/>
            <a:rect l="l" t="t" r="r" b="b"/>
            <a:pathLst>
              <a:path w="2590352" h="21580">
                <a:moveTo>
                  <a:pt x="128270" y="0"/>
                </a:moveTo>
                <a:lnTo>
                  <a:pt x="2462082" y="0"/>
                </a:lnTo>
                <a:lnTo>
                  <a:pt x="2488250" y="2698"/>
                </a:lnTo>
                <a:lnTo>
                  <a:pt x="2498891" y="5395"/>
                </a:lnTo>
                <a:lnTo>
                  <a:pt x="2506921" y="8093"/>
                </a:lnTo>
                <a:lnTo>
                  <a:pt x="2513576" y="10790"/>
                </a:lnTo>
                <a:lnTo>
                  <a:pt x="2519337" y="13488"/>
                </a:lnTo>
                <a:lnTo>
                  <a:pt x="2524453" y="16185"/>
                </a:lnTo>
                <a:lnTo>
                  <a:pt x="2529071" y="18883"/>
                </a:lnTo>
                <a:lnTo>
                  <a:pt x="2533289" y="21580"/>
                </a:lnTo>
                <a:lnTo>
                  <a:pt x="57063" y="21580"/>
                </a:lnTo>
                <a:lnTo>
                  <a:pt x="61281" y="18883"/>
                </a:lnTo>
                <a:lnTo>
                  <a:pt x="65899" y="16185"/>
                </a:lnTo>
                <a:lnTo>
                  <a:pt x="71015" y="13488"/>
                </a:lnTo>
                <a:lnTo>
                  <a:pt x="76776" y="10790"/>
                </a:lnTo>
                <a:lnTo>
                  <a:pt x="83431" y="8093"/>
                </a:lnTo>
                <a:lnTo>
                  <a:pt x="91461" y="5395"/>
                </a:lnTo>
                <a:lnTo>
                  <a:pt x="102103" y="2698"/>
                </a:lnTo>
                <a:close/>
              </a:path>
            </a:pathLst>
          </a:custGeom>
          <a:gradFill rotWithShape="1">
            <a:gsLst>
              <a:gs pos="0">
                <a:srgbClr val="5B8DEF"/>
              </a:gs>
              <a:gs pos="100000">
                <a:srgbClr val="9B6DFF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76749" y="1308646"/>
            <a:ext cx="2590352" cy="21580"/>
          </a:xfrm>
          <a:custGeom>
            <a:avLst/>
            <a:gdLst/>
            <a:ahLst/>
            <a:cxnLst/>
            <a:rect l="l" t="t" r="r" b="b"/>
            <a:pathLst>
              <a:path w="2590352" h="21580">
                <a:moveTo>
                  <a:pt x="128270" y="0"/>
                </a:moveTo>
                <a:lnTo>
                  <a:pt x="2462082" y="0"/>
                </a:lnTo>
                <a:lnTo>
                  <a:pt x="2488250" y="2698"/>
                </a:lnTo>
                <a:lnTo>
                  <a:pt x="2498891" y="5395"/>
                </a:lnTo>
                <a:lnTo>
                  <a:pt x="2506921" y="8093"/>
                </a:lnTo>
                <a:lnTo>
                  <a:pt x="2513576" y="10790"/>
                </a:lnTo>
                <a:lnTo>
                  <a:pt x="2519337" y="13488"/>
                </a:lnTo>
                <a:lnTo>
                  <a:pt x="2524453" y="16185"/>
                </a:lnTo>
                <a:lnTo>
                  <a:pt x="2529071" y="18883"/>
                </a:lnTo>
                <a:lnTo>
                  <a:pt x="2533289" y="21580"/>
                </a:lnTo>
                <a:lnTo>
                  <a:pt x="57063" y="21580"/>
                </a:lnTo>
                <a:lnTo>
                  <a:pt x="61281" y="18883"/>
                </a:lnTo>
                <a:lnTo>
                  <a:pt x="65899" y="16185"/>
                </a:lnTo>
                <a:lnTo>
                  <a:pt x="71015" y="13488"/>
                </a:lnTo>
                <a:lnTo>
                  <a:pt x="76776" y="10790"/>
                </a:lnTo>
                <a:lnTo>
                  <a:pt x="83431" y="8093"/>
                </a:lnTo>
                <a:lnTo>
                  <a:pt x="91461" y="5395"/>
                </a:lnTo>
                <a:lnTo>
                  <a:pt x="102103" y="2698"/>
                </a:lnTo>
                <a:close/>
              </a:path>
            </a:pathLst>
          </a:custGeom>
          <a:gradFill rotWithShape="1">
            <a:gsLst>
              <a:gs pos="0">
                <a:srgbClr val="9B6DFF"/>
              </a:gs>
              <a:gs pos="100000">
                <a:srgbClr val="E879A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86773" y="1308646"/>
            <a:ext cx="2590505" cy="21580"/>
          </a:xfrm>
          <a:custGeom>
            <a:avLst/>
            <a:gdLst/>
            <a:ahLst/>
            <a:cxnLst/>
            <a:rect l="l" t="t" r="r" b="b"/>
            <a:pathLst>
              <a:path w="2590505" h="21580">
                <a:moveTo>
                  <a:pt x="128270" y="0"/>
                </a:moveTo>
                <a:lnTo>
                  <a:pt x="2462234" y="0"/>
                </a:lnTo>
                <a:lnTo>
                  <a:pt x="2488402" y="2698"/>
                </a:lnTo>
                <a:lnTo>
                  <a:pt x="2499044" y="5395"/>
                </a:lnTo>
                <a:lnTo>
                  <a:pt x="2507074" y="8093"/>
                </a:lnTo>
                <a:lnTo>
                  <a:pt x="2513729" y="10790"/>
                </a:lnTo>
                <a:lnTo>
                  <a:pt x="2519490" y="13488"/>
                </a:lnTo>
                <a:lnTo>
                  <a:pt x="2524606" y="16185"/>
                </a:lnTo>
                <a:lnTo>
                  <a:pt x="2529224" y="18883"/>
                </a:lnTo>
                <a:lnTo>
                  <a:pt x="2533442" y="21580"/>
                </a:lnTo>
                <a:lnTo>
                  <a:pt x="57063" y="21580"/>
                </a:lnTo>
                <a:lnTo>
                  <a:pt x="61281" y="18883"/>
                </a:lnTo>
                <a:lnTo>
                  <a:pt x="65899" y="16185"/>
                </a:lnTo>
                <a:lnTo>
                  <a:pt x="71015" y="13488"/>
                </a:lnTo>
                <a:lnTo>
                  <a:pt x="76776" y="10790"/>
                </a:lnTo>
                <a:lnTo>
                  <a:pt x="83431" y="8093"/>
                </a:lnTo>
                <a:lnTo>
                  <a:pt x="91461" y="5395"/>
                </a:lnTo>
                <a:lnTo>
                  <a:pt x="102103" y="2698"/>
                </a:lnTo>
                <a:close/>
              </a:path>
            </a:pathLst>
          </a:custGeom>
          <a:gradFill rotWithShape="1">
            <a:gsLst>
              <a:gs pos="0">
                <a:srgbClr val="E879A8"/>
              </a:gs>
              <a:gs pos="100000">
                <a:srgbClr val="9B6DFF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400050"/>
            <a:ext cx="905256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136" kern="0" dirty="0">
                <a:solidFill>
                  <a:srgbClr val="E8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ANALYSIS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457200" y="600521"/>
            <a:ext cx="8641080" cy="362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2"/>
              </a:lnSpc>
              <a:spcAft>
                <a:spcPts val="450"/>
              </a:spcAft>
              <a:buNone/>
            </a:pPr>
            <a:r>
              <a:rPr lang="en-US" sz="248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Energy Framework</a:t>
            </a:r>
            <a:endParaRPr lang="en-US" sz="2480" dirty="0"/>
          </a:p>
        </p:txBody>
      </p:sp>
      <p:sp>
        <p:nvSpPr>
          <p:cNvPr id="9" name="Text 7"/>
          <p:cNvSpPr/>
          <p:nvPr/>
        </p:nvSpPr>
        <p:spPr>
          <a:xfrm>
            <a:off x="457200" y="1019770"/>
            <a:ext cx="5143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E879A8"/>
              </a:gs>
              <a:gs pos="100000">
                <a:srgbClr val="9B6DFF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1299121"/>
            <a:ext cx="2609404" cy="3501479"/>
          </a:xfrm>
          <a:prstGeom prst="roundRect">
            <a:avLst>
              <a:gd name="adj" fmla="val 4916"/>
            </a:avLst>
          </a:prstGeom>
          <a:solidFill>
            <a:srgbClr val="1F1335"/>
          </a:solidFill>
          <a:ln w="9525">
            <a:solidFill>
              <a:srgbClr val="E879A8">
                <a:alpha val="15000"/>
              </a:srgbClr>
            </a:solidFill>
          </a:ln>
          <a:effectLst>
            <a:outerShdw sx="100000" sy="100000" kx="0" ky="0" algn="bl" rotWithShape="0" blurRad="228600" dist="86360" dir="5400000">
              <a:srgbClr val="000000">
                <a:alpha val="2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7345" y="1537246"/>
            <a:ext cx="342900" cy="342900"/>
          </a:xfrm>
          <a:prstGeom prst="roundRect">
            <a:avLst>
              <a:gd name="adj" fmla="val 29259"/>
            </a:avLst>
          </a:prstGeom>
          <a:solidFill>
            <a:srgbClr val="5B8DEF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9293" y="1639193"/>
            <a:ext cx="139005" cy="13900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67345" y="2023616"/>
            <a:ext cx="2408024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spcAft>
                <a:spcPts val="1130"/>
              </a:spcAft>
              <a:buNone/>
            </a:pPr>
            <a:r>
              <a:rPr lang="en-US" sz="1130" b="1" spc="11" kern="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Kinetic Energy</a:t>
            </a:r>
            <a:endParaRPr lang="en-US" sz="1130" dirty="0"/>
          </a:p>
        </p:txBody>
      </p:sp>
      <p:sp>
        <p:nvSpPr>
          <p:cNvPr id="14" name="Text 11"/>
          <p:cNvSpPr/>
          <p:nvPr/>
        </p:nvSpPr>
        <p:spPr>
          <a:xfrm>
            <a:off x="645454" y="2382292"/>
            <a:ext cx="2232895" cy="479078"/>
          </a:xfrm>
          <a:prstGeom prst="roundRect">
            <a:avLst>
              <a:gd name="adj" fmla="val 18026"/>
            </a:avLst>
          </a:prstGeom>
          <a:solidFill>
            <a:srgbClr val="110B1E">
              <a:alpha val="70000"/>
            </a:srgbClr>
          </a:solidFill>
          <a:ln w="9525">
            <a:solidFill>
              <a:srgbClr val="9B6DFF">
                <a:alpha val="12000"/>
              </a:srgbClr>
            </a:solidFill>
          </a:ln>
        </p:spPr>
        <p:txBody>
          <a:bodyPr wrap="none" lIns="114300" tIns="128270" rIns="114300" bIns="128270" rtlCol="0" anchor="t"/>
          <a:lstStyle/>
          <a:p>
            <a:pPr algn="ctr" indent="0" marL="0">
              <a:buNone/>
            </a:pPr>
            <a:r>
              <a:rPr lang="en-US" sz="1070" i="1" spc="21" kern="0" dirty="0">
                <a:solidFill>
                  <a:srgbClr val="8BB5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KE</a:t>
            </a:r>
            <a:pPr algn="ctr" indent="0" marL="0">
              <a:buNone/>
            </a:pPr>
            <a:r>
              <a:rPr lang="en-US" sz="1070" spc="21" kern="0" dirty="0">
                <a:solidFill>
                  <a:srgbClr val="E0D4F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½ · </a:t>
            </a:r>
            <a:pPr algn="ctr" indent="0" marL="0">
              <a:buNone/>
            </a:pPr>
            <a:r>
              <a:rPr lang="en-US" sz="1070" i="1" spc="21" kern="0" dirty="0">
                <a:solidFill>
                  <a:srgbClr val="8BB5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</a:t>
            </a:r>
            <a:pPr algn="ctr" indent="0" marL="0">
              <a:buNone/>
            </a:pPr>
            <a:r>
              <a:rPr lang="en-US" sz="1070" spc="21" kern="0" dirty="0">
                <a:solidFill>
                  <a:srgbClr val="E0D4F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(</a:t>
            </a:r>
            <a:pPr algn="ctr" indent="0" marL="0">
              <a:buNone/>
            </a:pPr>
            <a:r>
              <a:rPr lang="en-US" sz="1070" i="1" spc="21" kern="0" dirty="0">
                <a:solidFill>
                  <a:srgbClr val="8BB5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pPr algn="ctr" indent="0" marL="0">
              <a:buNone/>
            </a:pPr>
            <a:r>
              <a:rPr lang="en-US" sz="1070" spc="21" kern="0" dirty="0">
                <a:solidFill>
                  <a:srgbClr val="E0D4F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</a:t>
            </a:r>
            <a:pPr algn="ctr" indent="0" marL="0">
              <a:buNone/>
            </a:pPr>
            <a:r>
              <a:rPr lang="en-US" sz="1070" i="1" spc="21" kern="0" dirty="0">
                <a:solidFill>
                  <a:srgbClr val="8BB5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θ̇</a:t>
            </a:r>
            <a:pPr algn="ctr" indent="0" marL="0">
              <a:buNone/>
            </a:pPr>
            <a:r>
              <a:rPr lang="en-US" sz="1070" spc="21" kern="0" dirty="0">
                <a:solidFill>
                  <a:srgbClr val="E0D4F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)²</a:t>
            </a:r>
            <a:endParaRPr lang="en-US" sz="1070" dirty="0"/>
          </a:p>
        </p:txBody>
      </p:sp>
      <p:sp>
        <p:nvSpPr>
          <p:cNvPr id="15" name="Text 12"/>
          <p:cNvSpPr/>
          <p:nvPr/>
        </p:nvSpPr>
        <p:spPr>
          <a:xfrm>
            <a:off x="667345" y="4267498"/>
            <a:ext cx="2232895" cy="33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Bef>
                <a:spcPts val="9942"/>
              </a:spcBef>
              <a:buNone/>
            </a:pPr>
            <a:r>
              <a:rPr lang="en-US" sz="82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at the equilibrium position where angular velocity peaks.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3267224" y="1299121"/>
            <a:ext cx="2609404" cy="3501479"/>
          </a:xfrm>
          <a:prstGeom prst="roundRect">
            <a:avLst>
              <a:gd name="adj" fmla="val 4916"/>
            </a:avLst>
          </a:prstGeom>
          <a:solidFill>
            <a:srgbClr val="1F1335"/>
          </a:solidFill>
          <a:ln w="9525">
            <a:solidFill>
              <a:srgbClr val="E879A8">
                <a:alpha val="15000"/>
              </a:srgbClr>
            </a:solidFill>
          </a:ln>
          <a:effectLst>
            <a:outerShdw sx="100000" sy="100000" kx="0" ky="0" algn="bl" rotWithShape="0" blurRad="228600" dist="86360" dir="5400000">
              <a:srgbClr val="000000">
                <a:alpha val="2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477369" y="1537246"/>
            <a:ext cx="342900" cy="342900"/>
          </a:xfrm>
          <a:prstGeom prst="roundRect">
            <a:avLst>
              <a:gd name="adj" fmla="val 29259"/>
            </a:avLst>
          </a:prstGeom>
          <a:solidFill>
            <a:srgbClr val="9B6DFF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9316" y="1639193"/>
            <a:ext cx="139005" cy="13900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77369" y="2023616"/>
            <a:ext cx="2408024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spcAft>
                <a:spcPts val="1130"/>
              </a:spcAft>
              <a:buNone/>
            </a:pPr>
            <a:r>
              <a:rPr lang="en-US" sz="1130" b="1" spc="11" kern="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Potential Energy</a:t>
            </a:r>
            <a:endParaRPr lang="en-US" sz="1130" dirty="0"/>
          </a:p>
        </p:txBody>
      </p:sp>
      <p:sp>
        <p:nvSpPr>
          <p:cNvPr id="20" name="Text 16"/>
          <p:cNvSpPr/>
          <p:nvPr/>
        </p:nvSpPr>
        <p:spPr>
          <a:xfrm>
            <a:off x="3455478" y="2382292"/>
            <a:ext cx="2232895" cy="479078"/>
          </a:xfrm>
          <a:prstGeom prst="roundRect">
            <a:avLst>
              <a:gd name="adj" fmla="val 18026"/>
            </a:avLst>
          </a:prstGeom>
          <a:solidFill>
            <a:srgbClr val="110B1E">
              <a:alpha val="70000"/>
            </a:srgbClr>
          </a:solidFill>
          <a:ln w="9525">
            <a:solidFill>
              <a:srgbClr val="9B6DFF">
                <a:alpha val="12000"/>
              </a:srgbClr>
            </a:solidFill>
          </a:ln>
        </p:spPr>
        <p:txBody>
          <a:bodyPr wrap="none" lIns="114300" tIns="128270" rIns="114300" bIns="128270" rtlCol="0" anchor="t"/>
          <a:lstStyle/>
          <a:p>
            <a:pPr algn="ctr" indent="0" marL="0">
              <a:buNone/>
            </a:pPr>
            <a:r>
              <a:rPr lang="en-US" sz="1070" i="1" spc="21" kern="0" dirty="0">
                <a:solidFill>
                  <a:srgbClr val="C4A0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PE</a:t>
            </a:r>
            <a:pPr algn="ctr" indent="0" marL="0">
              <a:buNone/>
            </a:pPr>
            <a:r>
              <a:rPr lang="en-US" sz="1070" spc="21" kern="0" dirty="0">
                <a:solidFill>
                  <a:srgbClr val="E0D4F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</a:t>
            </a:r>
            <a:pPr algn="ctr" indent="0" marL="0">
              <a:buNone/>
            </a:pPr>
            <a:r>
              <a:rPr lang="en-US" sz="1070" i="1" spc="21" kern="0" dirty="0">
                <a:solidFill>
                  <a:srgbClr val="C4A0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</a:t>
            </a:r>
            <a:pPr algn="ctr" indent="0" marL="0">
              <a:buNone/>
            </a:pPr>
            <a:r>
              <a:rPr lang="en-US" sz="1070" spc="21" kern="0" dirty="0">
                <a:solidFill>
                  <a:srgbClr val="E0D4F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</a:t>
            </a:r>
            <a:pPr algn="ctr" indent="0" marL="0">
              <a:buNone/>
            </a:pPr>
            <a:r>
              <a:rPr lang="en-US" sz="1070" i="1" spc="21" kern="0" dirty="0">
                <a:solidFill>
                  <a:srgbClr val="C4A0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1070" spc="21" kern="0" dirty="0">
                <a:solidFill>
                  <a:srgbClr val="E0D4F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</a:t>
            </a:r>
            <a:pPr algn="ctr" indent="0" marL="0">
              <a:buNone/>
            </a:pPr>
            <a:r>
              <a:rPr lang="en-US" sz="1070" i="1" spc="21" kern="0" dirty="0">
                <a:solidFill>
                  <a:srgbClr val="C4A0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pPr algn="ctr" indent="0" marL="0">
              <a:buNone/>
            </a:pPr>
            <a:r>
              <a:rPr lang="en-US" sz="1070" spc="21" kern="0" dirty="0">
                <a:solidFill>
                  <a:srgbClr val="E0D4F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(1 − cos </a:t>
            </a:r>
            <a:pPr algn="ctr" indent="0" marL="0">
              <a:buNone/>
            </a:pPr>
            <a:r>
              <a:rPr lang="en-US" sz="1070" i="1" spc="21" kern="0" dirty="0">
                <a:solidFill>
                  <a:srgbClr val="C4A0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</a:t>
            </a:r>
            <a:pPr algn="ctr" indent="0" marL="0">
              <a:buNone/>
            </a:pPr>
            <a:r>
              <a:rPr lang="en-US" sz="1070" spc="21" kern="0" dirty="0">
                <a:solidFill>
                  <a:srgbClr val="E0D4F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1070" dirty="0"/>
          </a:p>
        </p:txBody>
      </p:sp>
      <p:sp>
        <p:nvSpPr>
          <p:cNvPr id="21" name="Text 17"/>
          <p:cNvSpPr/>
          <p:nvPr/>
        </p:nvSpPr>
        <p:spPr>
          <a:xfrm>
            <a:off x="3477369" y="4267498"/>
            <a:ext cx="2232895" cy="33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Bef>
                <a:spcPts val="9942"/>
              </a:spcBef>
              <a:buNone/>
            </a:pPr>
            <a:r>
              <a:rPr lang="en-US" sz="82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at the turning points where the pendulum momentarily stops.</a:t>
            </a:r>
            <a:endParaRPr lang="en-US" sz="820" dirty="0"/>
          </a:p>
        </p:txBody>
      </p:sp>
      <p:sp>
        <p:nvSpPr>
          <p:cNvPr id="22" name="Text 18"/>
          <p:cNvSpPr/>
          <p:nvPr/>
        </p:nvSpPr>
        <p:spPr>
          <a:xfrm>
            <a:off x="6077248" y="1299121"/>
            <a:ext cx="2609552" cy="3501479"/>
          </a:xfrm>
          <a:prstGeom prst="roundRect">
            <a:avLst>
              <a:gd name="adj" fmla="val 4915"/>
            </a:avLst>
          </a:prstGeom>
          <a:solidFill>
            <a:srgbClr val="1F1335"/>
          </a:solidFill>
          <a:ln w="9525">
            <a:solidFill>
              <a:srgbClr val="E879A8">
                <a:alpha val="15000"/>
              </a:srgbClr>
            </a:solidFill>
          </a:ln>
          <a:effectLst>
            <a:outerShdw sx="100000" sy="100000" kx="0" ky="0" algn="bl" rotWithShape="0" blurRad="228600" dist="86360" dir="5400000">
              <a:srgbClr val="000000">
                <a:alpha val="2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287393" y="1537246"/>
            <a:ext cx="342900" cy="342900"/>
          </a:xfrm>
          <a:prstGeom prst="roundRect">
            <a:avLst>
              <a:gd name="adj" fmla="val 29259"/>
            </a:avLst>
          </a:prstGeom>
          <a:solidFill>
            <a:srgbClr val="E879A8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89340" y="1639193"/>
            <a:ext cx="139005" cy="13900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87393" y="2023616"/>
            <a:ext cx="2408188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5"/>
              </a:lnSpc>
              <a:spcAft>
                <a:spcPts val="1130"/>
              </a:spcAft>
              <a:buNone/>
            </a:pPr>
            <a:r>
              <a:rPr lang="en-US" sz="1130" b="1" spc="11" kern="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Mechanical Energy</a:t>
            </a:r>
            <a:endParaRPr lang="en-US" sz="1130" dirty="0"/>
          </a:p>
        </p:txBody>
      </p:sp>
      <p:sp>
        <p:nvSpPr>
          <p:cNvPr id="26" name="Text 21"/>
          <p:cNvSpPr/>
          <p:nvPr/>
        </p:nvSpPr>
        <p:spPr>
          <a:xfrm>
            <a:off x="6265500" y="2382292"/>
            <a:ext cx="2233047" cy="479078"/>
          </a:xfrm>
          <a:prstGeom prst="roundRect">
            <a:avLst>
              <a:gd name="adj" fmla="val 18026"/>
            </a:avLst>
          </a:prstGeom>
          <a:solidFill>
            <a:srgbClr val="110B1E">
              <a:alpha val="70000"/>
            </a:srgbClr>
          </a:solidFill>
          <a:ln w="9525">
            <a:solidFill>
              <a:srgbClr val="9B6DFF">
                <a:alpha val="12000"/>
              </a:srgbClr>
            </a:solidFill>
          </a:ln>
        </p:spPr>
        <p:txBody>
          <a:bodyPr wrap="none" lIns="114300" tIns="128270" rIns="114300" bIns="128270" rtlCol="0" anchor="t"/>
          <a:lstStyle/>
          <a:p>
            <a:pPr algn="ctr" indent="0" marL="0">
              <a:buNone/>
            </a:pPr>
            <a:r>
              <a:rPr lang="en-US" sz="1070" i="1" spc="21" kern="0" dirty="0">
                <a:solidFill>
                  <a:srgbClr val="F0A0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</a:t>
            </a:r>
            <a:pPr algn="ctr" indent="0" marL="0">
              <a:buNone/>
            </a:pPr>
            <a:r>
              <a:rPr lang="en-US" sz="790" spc="21" kern="0" dirty="0">
                <a:solidFill>
                  <a:srgbClr val="B8A0D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total</a:t>
            </a:r>
            <a:pPr algn="ctr" indent="0" marL="0">
              <a:buNone/>
            </a:pPr>
            <a:r>
              <a:rPr lang="en-US" sz="1070" spc="21" kern="0" dirty="0">
                <a:solidFill>
                  <a:srgbClr val="E0D4F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</a:t>
            </a:r>
            <a:pPr algn="ctr" indent="0" marL="0">
              <a:buNone/>
            </a:pPr>
            <a:r>
              <a:rPr lang="en-US" sz="1070" i="1" spc="21" kern="0" dirty="0">
                <a:solidFill>
                  <a:srgbClr val="F0A0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KE</a:t>
            </a:r>
            <a:pPr algn="ctr" indent="0" marL="0">
              <a:buNone/>
            </a:pPr>
            <a:r>
              <a:rPr lang="en-US" sz="1070" spc="21" kern="0" dirty="0">
                <a:solidFill>
                  <a:srgbClr val="E0D4F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+ </a:t>
            </a:r>
            <a:pPr algn="ctr" indent="0" marL="0">
              <a:buNone/>
            </a:pPr>
            <a:r>
              <a:rPr lang="en-US" sz="1070" i="1" spc="21" kern="0" dirty="0">
                <a:solidFill>
                  <a:srgbClr val="F0A0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PE</a:t>
            </a:r>
            <a:endParaRPr lang="en-US" sz="1070" dirty="0"/>
          </a:p>
        </p:txBody>
      </p:sp>
      <p:sp>
        <p:nvSpPr>
          <p:cNvPr id="27" name="Text 22"/>
          <p:cNvSpPr/>
          <p:nvPr/>
        </p:nvSpPr>
        <p:spPr>
          <a:xfrm>
            <a:off x="6287393" y="3645396"/>
            <a:ext cx="2233047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Bef>
                <a:spcPts val="5044"/>
              </a:spcBef>
              <a:buNone/>
            </a:pPr>
            <a:r>
              <a:rPr lang="en-US" sz="82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Decreases monotonically over time due to dissipation from air resistance. The decay follows approximately:</a:t>
            </a:r>
            <a:endParaRPr lang="en-US" sz="820" dirty="0"/>
          </a:p>
        </p:txBody>
      </p:sp>
      <p:sp>
        <p:nvSpPr>
          <p:cNvPr id="28" name="Text 23"/>
          <p:cNvSpPr/>
          <p:nvPr/>
        </p:nvSpPr>
        <p:spPr>
          <a:xfrm>
            <a:off x="6287393" y="4200823"/>
            <a:ext cx="2189262" cy="389632"/>
          </a:xfrm>
          <a:prstGeom prst="roundRect">
            <a:avLst>
              <a:gd name="adj" fmla="val 14668"/>
            </a:avLst>
          </a:prstGeom>
          <a:solidFill>
            <a:srgbClr val="E879A8">
              <a:alpha val="8000"/>
            </a:srgbClr>
          </a:solidFill>
          <a:ln w="9525">
            <a:solidFill>
              <a:srgbClr val="E879A8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7020595" y="4338489"/>
            <a:ext cx="7694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i="1" dirty="0">
                <a:solidFill>
                  <a:srgbClr val="F0A0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7088646" y="4338489"/>
            <a:ext cx="11869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8A0D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(t)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7239789" y="4338489"/>
            <a:ext cx="10051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D4F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7332241" y="4338489"/>
            <a:ext cx="7694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i="1" dirty="0">
                <a:solidFill>
                  <a:srgbClr val="F0A0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7490304" y="4338489"/>
            <a:ext cx="12916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0D4F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· 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662583"/>
            <a:ext cx="4659038" cy="856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10"/>
              </a:lnSpc>
              <a:spcAft>
                <a:spcPts val="1350"/>
              </a:spcAft>
              <a:buNone/>
            </a:pPr>
            <a:r>
              <a:rPr lang="en-US" sz="2140" spc="-30" kern="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Pendulum with Wind and Air Resistance</a:t>
            </a:r>
            <a:endParaRPr lang="en-US" sz="2140" dirty="0"/>
          </a:p>
        </p:txBody>
      </p:sp>
      <p:sp>
        <p:nvSpPr>
          <p:cNvPr id="3" name="Text 1"/>
          <p:cNvSpPr/>
          <p:nvPr/>
        </p:nvSpPr>
        <p:spPr>
          <a:xfrm>
            <a:off x="400050" y="1649313"/>
            <a:ext cx="4567684" cy="2831455"/>
          </a:xfrm>
          <a:prstGeom prst="roundRect">
            <a:avLst>
              <a:gd name="adj" fmla="val 4037"/>
            </a:avLst>
          </a:prstGeom>
          <a:solidFill>
            <a:srgbClr val="1F1335"/>
          </a:solidFill>
          <a:ln w="9525">
            <a:solidFill>
              <a:srgbClr val="E879A8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8175" y="1859459"/>
            <a:ext cx="450057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spc="80" kern="0" dirty="0">
                <a:solidFill>
                  <a:srgbClr val="B8A0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DAMPED OSCILLATION · Θ(T)</a:t>
            </a:r>
            <a:endParaRPr lang="en-US" sz="84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175" y="2133749"/>
            <a:ext cx="4091434" cy="216604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7784" y="811262"/>
            <a:ext cx="150465" cy="1504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4570" y="768400"/>
            <a:ext cx="1448842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spc="20" kern="0" dirty="0">
                <a:solidFill>
                  <a:srgbClr val="E879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Angular Dynamics</a:t>
            </a:r>
            <a:endParaRPr lang="en-US" sz="1240" dirty="0"/>
          </a:p>
        </p:txBody>
      </p:sp>
      <p:sp>
        <p:nvSpPr>
          <p:cNvPr id="8" name="Text 4"/>
          <p:cNvSpPr/>
          <p:nvPr/>
        </p:nvSpPr>
        <p:spPr>
          <a:xfrm>
            <a:off x="5367784" y="1148060"/>
            <a:ext cx="3443689" cy="844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96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pendulum oscillates with progressively decreasing amplitude as energy is dissipated by air resistance. The wind force introduces a slight asymmetry, shifting the equilibrium position.</a:t>
            </a:r>
            <a:endParaRPr lang="en-US" sz="960" dirty="0"/>
          </a:p>
        </p:txBody>
      </p:sp>
      <p:sp>
        <p:nvSpPr>
          <p:cNvPr id="9" name="Text 5"/>
          <p:cNvSpPr/>
          <p:nvPr/>
        </p:nvSpPr>
        <p:spPr>
          <a:xfrm>
            <a:off x="5367784" y="2052637"/>
            <a:ext cx="3443689" cy="42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4"/>
              </a:lnSpc>
              <a:spcBef>
                <a:spcPts val="790"/>
              </a:spcBef>
              <a:buNone/>
            </a:pPr>
            <a:r>
              <a:rPr lang="en-US" sz="96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time, the system settles toward a new steady state determined by the balance of gravitational and wind forces.</a:t>
            </a:r>
            <a:endParaRPr lang="en-US" sz="960" dirty="0"/>
          </a:p>
        </p:txBody>
      </p:sp>
      <p:sp>
        <p:nvSpPr>
          <p:cNvPr id="10" name="Text 6"/>
          <p:cNvSpPr/>
          <p:nvPr/>
        </p:nvSpPr>
        <p:spPr>
          <a:xfrm>
            <a:off x="5367784" y="2826841"/>
            <a:ext cx="3376166" cy="746383"/>
          </a:xfrm>
          <a:prstGeom prst="rect">
            <a:avLst/>
          </a:prstGeom>
          <a:solidFill>
            <a:srgbClr val="E879A8">
              <a:alpha val="8000"/>
            </a:srgbClr>
          </a:solidFill>
          <a:ln/>
        </p:spPr>
        <p:txBody>
          <a:bodyPr wrap="square" lIns="143510" tIns="114300" rIns="143510" bIns="11430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E8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br/>
            <a:pPr algn="l" indent="0" marL="0">
              <a:buNone/>
            </a:pPr>
            <a:r>
              <a:rPr lang="en-US" sz="84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exponential envelope </a:t>
            </a:r>
            <a:pPr algn="l" indent="0" marL="0">
              <a:buNone/>
            </a:pPr>
            <a:r>
              <a:rPr lang="en-US" sz="790" dirty="0">
                <a:solidFill>
                  <a:srgbClr val="F0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A(t) = A₀ · e</a:t>
            </a:r>
            <a:pPr algn="l" indent="0" marL="0">
              <a:buNone/>
            </a:pPr>
            <a:r>
              <a:rPr lang="en-US" sz="790" dirty="0">
                <a:solidFill>
                  <a:srgbClr val="F0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−γt</a:t>
            </a:r>
            <a:pPr algn="l" indent="0" marL="0">
              <a:buNone/>
            </a:pPr>
            <a:r>
              <a:rPr lang="en-US" sz="84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bounds the oscillation, confirming linear damping behavior.</a:t>
            </a:r>
            <a:endParaRPr lang="en-US" sz="840" dirty="0"/>
          </a:p>
        </p:txBody>
      </p:sp>
      <p:sp>
        <p:nvSpPr>
          <p:cNvPr id="11" name="Text 7"/>
          <p:cNvSpPr/>
          <p:nvPr/>
        </p:nvSpPr>
        <p:spPr>
          <a:xfrm>
            <a:off x="5367784" y="2826841"/>
            <a:ext cx="19050" cy="724644"/>
          </a:xfrm>
          <a:prstGeom prst="rect">
            <a:avLst/>
          </a:prstGeom>
          <a:solidFill>
            <a:srgbClr val="E879A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367784" y="3798689"/>
            <a:ext cx="57150" cy="57150"/>
          </a:xfrm>
          <a:prstGeom prst="ellipse">
            <a:avLst/>
          </a:prstGeom>
          <a:solidFill>
            <a:srgbClr val="9B6D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495925" y="3752106"/>
            <a:ext cx="79612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θ₀ = 0.5 rad</a:t>
            </a:r>
            <a:endParaRPr lang="en-US" sz="790" dirty="0"/>
          </a:p>
        </p:txBody>
      </p:sp>
      <p:sp>
        <p:nvSpPr>
          <p:cNvPr id="14" name="Text 10"/>
          <p:cNvSpPr/>
          <p:nvPr/>
        </p:nvSpPr>
        <p:spPr>
          <a:xfrm>
            <a:off x="6290667" y="3757761"/>
            <a:ext cx="51519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angle</a:t>
            </a:r>
            <a:endParaRPr lang="en-US" sz="730" dirty="0"/>
          </a:p>
        </p:txBody>
      </p:sp>
      <p:sp>
        <p:nvSpPr>
          <p:cNvPr id="15" name="Text 11"/>
          <p:cNvSpPr/>
          <p:nvPr/>
        </p:nvSpPr>
        <p:spPr>
          <a:xfrm>
            <a:off x="5367784" y="4006304"/>
            <a:ext cx="57150" cy="57150"/>
          </a:xfrm>
          <a:prstGeom prst="ellipse">
            <a:avLst/>
          </a:prstGeom>
          <a:solidFill>
            <a:srgbClr val="5B8DE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495925" y="3959721"/>
            <a:ext cx="86242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 ≈ 2.5 rad/s</a:t>
            </a:r>
            <a:endParaRPr lang="en-US" sz="790" dirty="0"/>
          </a:p>
        </p:txBody>
      </p:sp>
      <p:sp>
        <p:nvSpPr>
          <p:cNvPr id="17" name="Text 13"/>
          <p:cNvSpPr/>
          <p:nvPr/>
        </p:nvSpPr>
        <p:spPr>
          <a:xfrm>
            <a:off x="6350943" y="3965377"/>
            <a:ext cx="56038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freq.</a:t>
            </a:r>
            <a:endParaRPr lang="en-US" sz="730" dirty="0"/>
          </a:p>
        </p:txBody>
      </p:sp>
      <p:sp>
        <p:nvSpPr>
          <p:cNvPr id="18" name="Text 14"/>
          <p:cNvSpPr/>
          <p:nvPr/>
        </p:nvSpPr>
        <p:spPr>
          <a:xfrm>
            <a:off x="5367784" y="4213920"/>
            <a:ext cx="57150" cy="57150"/>
          </a:xfrm>
          <a:prstGeom prst="ellipse">
            <a:avLst/>
          </a:prstGeom>
          <a:solidFill>
            <a:srgbClr val="E879A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495925" y="4167336"/>
            <a:ext cx="79612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B8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≈ 0.10 s⁻¹</a:t>
            </a:r>
            <a:endParaRPr lang="en-US" sz="790" dirty="0"/>
          </a:p>
        </p:txBody>
      </p:sp>
      <p:sp>
        <p:nvSpPr>
          <p:cNvPr id="20" name="Text 16"/>
          <p:cNvSpPr/>
          <p:nvPr/>
        </p:nvSpPr>
        <p:spPr>
          <a:xfrm>
            <a:off x="6290667" y="4172992"/>
            <a:ext cx="49244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rate</a:t>
            </a:r>
            <a:endParaRPr lang="en-US" sz="7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407938"/>
            <a:ext cx="29170" cy="200620"/>
          </a:xfrm>
          <a:prstGeom prst="roundRect">
            <a:avLst>
              <a:gd name="adj" fmla="val 47892"/>
            </a:avLst>
          </a:prstGeom>
          <a:solidFill>
            <a:srgbClr val="E879A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29530" y="314920"/>
            <a:ext cx="1513953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030" spc="-30" kern="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Energy Plots</a:t>
            </a:r>
            <a:endParaRPr lang="en-US" sz="2030" dirty="0"/>
          </a:p>
        </p:txBody>
      </p:sp>
      <p:sp>
        <p:nvSpPr>
          <p:cNvPr id="4" name="Text 2"/>
          <p:cNvSpPr/>
          <p:nvPr/>
        </p:nvSpPr>
        <p:spPr>
          <a:xfrm>
            <a:off x="400050" y="859036"/>
            <a:ext cx="4644926" cy="3625453"/>
          </a:xfrm>
          <a:prstGeom prst="roundRect">
            <a:avLst>
              <a:gd name="adj" fmla="val 2767"/>
            </a:avLst>
          </a:prstGeom>
          <a:solidFill>
            <a:srgbClr val="1F1335"/>
          </a:solidFill>
          <a:ln w="9525">
            <a:solidFill>
              <a:srgbClr val="E879A8">
                <a:alpha val="12000"/>
              </a:srgbClr>
            </a:solidFill>
          </a:ln>
          <a:effectLst>
            <a:outerShdw sx="100000" sy="100000" kx="0" ky="0" algn="bl" rotWithShape="0" blurRad="228600" dist="57150" dir="5400000">
              <a:srgbClr val="000000">
                <a:alpha val="22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1025" y="1026021"/>
            <a:ext cx="471127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58" kern="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KINETIC AND POTENTIAL ENERGY</a:t>
            </a:r>
            <a:endParaRPr lang="en-US" sz="73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1025" y="1236018"/>
            <a:ext cx="4282976" cy="29241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1025" y="4271218"/>
            <a:ext cx="100310" cy="21580"/>
          </a:xfrm>
          <a:prstGeom prst="roundRect">
            <a:avLst>
              <a:gd name="adj" fmla="val 64736"/>
            </a:avLst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408361" y="4271218"/>
            <a:ext cx="100310" cy="21580"/>
          </a:xfrm>
          <a:prstGeom prst="roundRect">
            <a:avLst>
              <a:gd name="adj" fmla="val 64736"/>
            </a:avLst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216426" y="859036"/>
            <a:ext cx="3527524" cy="3625453"/>
          </a:xfrm>
          <a:prstGeom prst="roundRect">
            <a:avLst>
              <a:gd name="adj" fmla="val 2844"/>
            </a:avLst>
          </a:prstGeom>
          <a:solidFill>
            <a:srgbClr val="1F1335"/>
          </a:solidFill>
          <a:ln w="9525">
            <a:solidFill>
              <a:srgbClr val="E879A8">
                <a:alpha val="12000"/>
              </a:srgbClr>
            </a:solidFill>
          </a:ln>
          <a:effectLst>
            <a:outerShdw sx="100000" sy="100000" kx="0" ky="0" algn="bl" rotWithShape="0" blurRad="228600" dist="57150" dir="5400000">
              <a:srgbClr val="000000">
                <a:alpha val="22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397401" y="1026021"/>
            <a:ext cx="348213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58" kern="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DECAY WITH FITTED CURVE</a:t>
            </a:r>
            <a:endParaRPr lang="en-US" sz="73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7401" y="1236018"/>
            <a:ext cx="3165574" cy="29241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7401" y="4271218"/>
            <a:ext cx="100310" cy="21580"/>
          </a:xfrm>
          <a:prstGeom prst="roundRect">
            <a:avLst>
              <a:gd name="adj" fmla="val 64736"/>
            </a:avLst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148090" y="4271218"/>
            <a:ext cx="10031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5B8DEF"/>
              </a:gs>
              <a:gs pos="33333">
                <a:srgbClr val="5B8DEF"/>
              </a:gs>
              <a:gs pos="66667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827" y="4668970"/>
            <a:ext cx="132588" cy="132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9663" y="4584799"/>
            <a:ext cx="8015895" cy="315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and PE oscillate out of phase — energy transfers between kinetic and potential forms each half-cycle. Total mechanical energy decreases monotonically as air resistance dissipates energy, closely following the exponential model </a:t>
            </a:r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E(t) ≈ E₀·e</a:t>
            </a:r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−γt</a:t>
            </a:r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0"/>
            <a:ext cx="2286000" cy="2286000"/>
          </a:xfrm>
          <a:prstGeom prst="ellipse">
            <a:avLst/>
          </a:prstGeom>
          <a:gradFill rotWithShape="1">
            <a:gsLst>
              <a:gs pos="0">
                <a:srgbClr val="9B6DFF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428750" y="3429000"/>
            <a:ext cx="2143720" cy="1714500"/>
          </a:xfrm>
          <a:prstGeom prst="ellipse">
            <a:avLst/>
          </a:prstGeom>
          <a:gradFill rotWithShape="1">
            <a:gsLst>
              <a:gs pos="0">
                <a:srgbClr val="E879A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367903"/>
            <a:ext cx="35421" cy="257770"/>
          </a:xfrm>
          <a:prstGeom prst="roundRect">
            <a:avLst>
              <a:gd name="adj" fmla="val 60953"/>
            </a:avLst>
          </a:prstGeom>
          <a:solidFill>
            <a:srgbClr val="E879A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5781" y="314920"/>
            <a:ext cx="3210560" cy="363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865"/>
              </a:lnSpc>
              <a:buNone/>
            </a:pPr>
            <a:r>
              <a:rPr lang="en-US" sz="1910" spc="-30" kern="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Fitted Decay </a:t>
            </a:r>
            <a:pPr algn="l" indent="0" marL="0">
              <a:lnSpc>
                <a:spcPts val="2865"/>
              </a:lnSpc>
              <a:buNone/>
            </a:pPr>
            <a:r>
              <a:rPr lang="en-US" sz="1910" spc="-30" kern="0" dirty="0">
                <a:solidFill>
                  <a:srgbClr val="E879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</a:t>
            </a:r>
            <a:pPr algn="l" indent="0" marL="0">
              <a:lnSpc>
                <a:spcPts val="2865"/>
              </a:lnSpc>
              <a:buNone/>
            </a:pPr>
            <a:r>
              <a:rPr lang="en-US" sz="1910" spc="-30" kern="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Phase Space</a:t>
            </a:r>
            <a:endParaRPr lang="en-US" sz="1910" dirty="0"/>
          </a:p>
        </p:txBody>
      </p:sp>
      <p:sp>
        <p:nvSpPr>
          <p:cNvPr id="6" name="Text 4"/>
          <p:cNvSpPr/>
          <p:nvPr/>
        </p:nvSpPr>
        <p:spPr>
          <a:xfrm>
            <a:off x="400050" y="879425"/>
            <a:ext cx="4238625" cy="3978325"/>
          </a:xfrm>
          <a:prstGeom prst="roundRect">
            <a:avLst>
              <a:gd name="adj" fmla="val 1788"/>
            </a:avLst>
          </a:prstGeom>
          <a:solidFill>
            <a:srgbClr val="110B1E">
              <a:alpha val="60000"/>
            </a:srgbClr>
          </a:solidFill>
          <a:ln w="9525">
            <a:solidFill>
              <a:srgbClr val="9B6D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1025" y="1060400"/>
            <a:ext cx="426434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230"/>
              </a:spcAft>
              <a:buNone/>
            </a:pPr>
            <a:r>
              <a:rPr lang="en-US" sz="960" b="1" spc="30" kern="0" dirty="0">
                <a:solidFill>
                  <a:srgbClr val="E879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PORTRAIT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581025" y="1272332"/>
            <a:ext cx="426434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spcAft>
                <a:spcPts val="680"/>
              </a:spcAft>
              <a:buNone/>
            </a:pPr>
            <a:r>
              <a:rPr lang="en-US" sz="73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velocity ω vs. angle θ — spiral toward equilibrium</a:t>
            </a:r>
            <a:endParaRPr lang="en-US" sz="73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1025" y="1497657"/>
            <a:ext cx="3876675" cy="320709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67275" y="879425"/>
            <a:ext cx="3876675" cy="1943993"/>
          </a:xfrm>
          <a:prstGeom prst="roundRect">
            <a:avLst>
              <a:gd name="adj" fmla="val 4442"/>
            </a:avLst>
          </a:prstGeom>
          <a:solidFill>
            <a:srgbClr val="1F1335"/>
          </a:solidFill>
          <a:ln w="9525">
            <a:solidFill>
              <a:srgbClr val="9B6D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077420" y="1089571"/>
            <a:ext cx="380202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960" b="1" spc="30" kern="0" dirty="0">
                <a:solidFill>
                  <a:srgbClr val="E879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EXPONENTIAL DECAY FIT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5042856" y="1386632"/>
            <a:ext cx="3525512" cy="584150"/>
          </a:xfrm>
          <a:prstGeom prst="roundRect">
            <a:avLst>
              <a:gd name="adj" fmla="val 14784"/>
            </a:avLst>
          </a:prstGeom>
          <a:gradFill rotWithShape="1">
            <a:gsLst>
              <a:gs pos="0">
                <a:srgbClr val="E879A8">
                  <a:alpha val="12000"/>
                </a:srgbClr>
              </a:gs>
              <a:gs pos="100000">
                <a:srgbClr val="9B6DFF">
                  <a:alpha val="6000"/>
                </a:srgbClr>
              </a:gs>
            </a:gsLst>
            <a:lin ang="2700000" scaled="1"/>
          </a:gradFill>
          <a:ln w="9525">
            <a:solidFill>
              <a:srgbClr val="E879A8">
                <a:alpha val="30000"/>
              </a:srgbClr>
            </a:solidFill>
          </a:ln>
        </p:spPr>
        <p:txBody>
          <a:bodyPr wrap="none" lIns="200660" tIns="143510" rIns="200660" bIns="143510" rtlCol="0" anchor="t"/>
          <a:lstStyle/>
          <a:p>
            <a:pPr algn="ctr" indent="0" marL="0">
              <a:buNone/>
            </a:pPr>
            <a:r>
              <a:rPr lang="en-US" sz="1460" b="1" spc="30" kern="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</a:t>
            </a:r>
            <a:pPr algn="ctr" indent="0" marL="0">
              <a:buNone/>
            </a:pPr>
            <a:r>
              <a:rPr lang="en-US" sz="1460" spc="3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(t) = 1.3101 · e</a:t>
            </a:r>
            <a:pPr algn="ctr" indent="0" marL="0">
              <a:buNone/>
            </a:pPr>
            <a:r>
              <a:rPr lang="en-US" sz="900" spc="30" kern="0" dirty="0">
                <a:solidFill>
                  <a:srgbClr val="F0E6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−0.0041t</a:t>
            </a:r>
            <a:endParaRPr lang="en-US" sz="1460" dirty="0"/>
          </a:p>
        </p:txBody>
      </p:sp>
      <p:sp>
        <p:nvSpPr>
          <p:cNvPr id="13" name="Text 10"/>
          <p:cNvSpPr/>
          <p:nvPr/>
        </p:nvSpPr>
        <p:spPr>
          <a:xfrm>
            <a:off x="5077420" y="2114252"/>
            <a:ext cx="3525512" cy="554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84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exponential decay model was fitted to the total energy data. The fitted parameters yield </a:t>
            </a:r>
            <a:pPr algn="l" indent="0" marL="0">
              <a:lnSpc>
                <a:spcPts val="1386"/>
              </a:lnSpc>
              <a:buNone/>
            </a:pPr>
            <a:r>
              <a:rPr lang="en-US" sz="84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E₀ = 1.3101 J</a:t>
            </a:r>
            <a:pPr algn="l" indent="0" marL="0">
              <a:lnSpc>
                <a:spcPts val="1386"/>
              </a:lnSpc>
              <a:buNone/>
            </a:pPr>
            <a:r>
              <a:rPr lang="en-US" sz="84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decay constant </a:t>
            </a:r>
            <a:pPr algn="l" indent="0" marL="0">
              <a:lnSpc>
                <a:spcPts val="1386"/>
              </a:lnSpc>
              <a:buNone/>
            </a:pPr>
            <a:r>
              <a:rPr lang="en-US" sz="840" dirty="0">
                <a:solidFill>
                  <a:srgbClr val="E87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 = 0.0041 s⁻¹</a:t>
            </a:r>
            <a:pPr algn="l" indent="0" marL="0">
              <a:lnSpc>
                <a:spcPts val="1386"/>
              </a:lnSpc>
              <a:buNone/>
            </a:pPr>
            <a:r>
              <a:rPr lang="en-US" sz="84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characterizing the rate of energy dissipation due to air resistance.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4867275" y="2966889"/>
            <a:ext cx="3876675" cy="2117973"/>
          </a:xfrm>
          <a:prstGeom prst="roundRect">
            <a:avLst>
              <a:gd name="adj" fmla="val 4077"/>
            </a:avLst>
          </a:prstGeom>
          <a:solidFill>
            <a:srgbClr val="1F1335"/>
          </a:solidFill>
          <a:ln w="9525">
            <a:solidFill>
              <a:srgbClr val="9B6D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077420" y="3147864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E879A8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3927" y="3224370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77470" y="3147864"/>
            <a:ext cx="336196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30"/>
              </a:spcAft>
              <a:buNone/>
            </a:pPr>
            <a:r>
              <a:rPr lang="en-US" sz="840" b="1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Validation</a:t>
            </a:r>
            <a:endParaRPr lang="en-US" sz="840" dirty="0"/>
          </a:p>
        </p:txBody>
      </p:sp>
      <p:sp>
        <p:nvSpPr>
          <p:cNvPr id="18" name="Text 14"/>
          <p:cNvSpPr/>
          <p:nvPr/>
        </p:nvSpPr>
        <p:spPr>
          <a:xfrm>
            <a:off x="5477470" y="3337024"/>
            <a:ext cx="3117461" cy="326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 agreement between simulation data and the analytical fit validates the linear damping model used in the system.</a:t>
            </a:r>
            <a:endParaRPr lang="en-US" sz="790" dirty="0"/>
          </a:p>
        </p:txBody>
      </p:sp>
      <p:sp>
        <p:nvSpPr>
          <p:cNvPr id="19" name="Text 15"/>
          <p:cNvSpPr/>
          <p:nvPr/>
        </p:nvSpPr>
        <p:spPr>
          <a:xfrm>
            <a:off x="5077420" y="3775918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9B6DFF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3927" y="3852425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77470" y="3775918"/>
            <a:ext cx="336196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30"/>
              </a:spcAft>
              <a:buNone/>
            </a:pPr>
            <a:r>
              <a:rPr lang="en-US" sz="840" b="1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Decay Constant γ = 0.0041 s⁻¹</a:t>
            </a:r>
            <a:endParaRPr lang="en-US" sz="840" dirty="0"/>
          </a:p>
        </p:txBody>
      </p:sp>
      <p:sp>
        <p:nvSpPr>
          <p:cNvPr id="22" name="Text 17"/>
          <p:cNvSpPr/>
          <p:nvPr/>
        </p:nvSpPr>
        <p:spPr>
          <a:xfrm>
            <a:off x="5477470" y="3965079"/>
            <a:ext cx="3117461" cy="326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the timescale of energy loss — higher γ means faster dissipation and quicker settling to equilibrium.</a:t>
            </a:r>
            <a:endParaRPr lang="en-US" sz="790" dirty="0"/>
          </a:p>
        </p:txBody>
      </p:sp>
      <p:sp>
        <p:nvSpPr>
          <p:cNvPr id="23" name="Text 18"/>
          <p:cNvSpPr/>
          <p:nvPr/>
        </p:nvSpPr>
        <p:spPr>
          <a:xfrm>
            <a:off x="5077420" y="4403973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5B8DEF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53927" y="4480480"/>
            <a:ext cx="132588" cy="1325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77470" y="4403973"/>
            <a:ext cx="336196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30"/>
              </a:spcAft>
              <a:buNone/>
            </a:pPr>
            <a:r>
              <a:rPr lang="en-US" sz="840" b="1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Space Spiral</a:t>
            </a:r>
            <a:endParaRPr lang="en-US" sz="840" dirty="0"/>
          </a:p>
        </p:txBody>
      </p:sp>
      <p:sp>
        <p:nvSpPr>
          <p:cNvPr id="26" name="Text 20"/>
          <p:cNvSpPr/>
          <p:nvPr/>
        </p:nvSpPr>
        <p:spPr>
          <a:xfrm>
            <a:off x="5477470" y="4593134"/>
            <a:ext cx="3117461" cy="326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inward spiral confirms continuous energy loss — each orbit is smaller as the system asymptotically approaches its steady state.</a:t>
            </a:r>
            <a:endParaRPr lang="en-US" sz="7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3750" y="0"/>
            <a:ext cx="2000250" cy="2000250"/>
          </a:xfrm>
          <a:prstGeom prst="ellipse">
            <a:avLst/>
          </a:prstGeom>
          <a:gradFill rotWithShape="1">
            <a:gsLst>
              <a:gs pos="0">
                <a:srgbClr val="9B6DFF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571280"/>
            <a:ext cx="1572220" cy="1572220"/>
          </a:xfrm>
          <a:prstGeom prst="ellipse">
            <a:avLst/>
          </a:prstGeom>
          <a:gradFill rotWithShape="1">
            <a:gsLst>
              <a:gs pos="0">
                <a:srgbClr val="E879A8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72070"/>
            <a:ext cx="90525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spc="170" kern="0" dirty="0">
                <a:solidFill>
                  <a:srgbClr val="E879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FINDINGS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457200" y="554236"/>
            <a:ext cx="8805672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spc="-30" kern="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57200" y="939998"/>
            <a:ext cx="429220" cy="21580"/>
          </a:xfrm>
          <a:prstGeom prst="roundRect">
            <a:avLst>
              <a:gd name="adj" fmla="val 100046"/>
            </a:avLst>
          </a:prstGeom>
          <a:gradFill rotWithShape="1">
            <a:gsLst>
              <a:gs pos="0">
                <a:srgbClr val="E879A8"/>
              </a:gs>
              <a:gs pos="50000">
                <a:srgbClr val="9B6D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219349"/>
            <a:ext cx="4043065" cy="1577578"/>
          </a:xfrm>
          <a:prstGeom prst="roundRect">
            <a:avLst>
              <a:gd name="adj" fmla="val 7245"/>
            </a:avLst>
          </a:prstGeom>
          <a:solidFill>
            <a:srgbClr val="1F1335"/>
          </a:solidFill>
          <a:ln w="9525">
            <a:solidFill>
              <a:srgbClr val="E879A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1335" y="1429494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9B6DFF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501" y="1520660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0555" y="1429494"/>
            <a:ext cx="271760" cy="298936"/>
          </a:xfrm>
          <a:prstGeom prst="roundRect">
            <a:avLst>
              <a:gd name="adj" fmla="val 26170"/>
            </a:avLst>
          </a:prstGeom>
          <a:solidFill>
            <a:srgbClr val="E879A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879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010" dirty="0"/>
          </a:p>
        </p:txBody>
      </p:sp>
      <p:sp>
        <p:nvSpPr>
          <p:cNvPr id="11" name="Text 8"/>
          <p:cNvSpPr/>
          <p:nvPr/>
        </p:nvSpPr>
        <p:spPr>
          <a:xfrm>
            <a:off x="1453307" y="1463427"/>
            <a:ext cx="1261229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05"/>
              </a:lnSpc>
              <a:buNone/>
            </a:pPr>
            <a:r>
              <a:rPr lang="en-US" sz="107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Damped Dynamics</a:t>
            </a:r>
            <a:endParaRPr lang="en-US" sz="1070" dirty="0"/>
          </a:p>
        </p:txBody>
      </p:sp>
      <p:sp>
        <p:nvSpPr>
          <p:cNvPr id="12" name="Text 9"/>
          <p:cNvSpPr/>
          <p:nvPr/>
        </p:nvSpPr>
        <p:spPr>
          <a:xfrm>
            <a:off x="1110555" y="1758404"/>
            <a:ext cx="3228886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accurately models the damped oscillatory motion of a pendulum subject to wind forcing and velocity-dependent air resistance.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4643735" y="1219349"/>
            <a:ext cx="4043065" cy="1577578"/>
          </a:xfrm>
          <a:prstGeom prst="roundRect">
            <a:avLst>
              <a:gd name="adj" fmla="val 7245"/>
            </a:avLst>
          </a:prstGeom>
          <a:solidFill>
            <a:srgbClr val="1F1335"/>
          </a:solidFill>
          <a:ln w="9525">
            <a:solidFill>
              <a:srgbClr val="E879A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67870" y="1429494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9B6DFF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036" y="1520660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97091" y="1429494"/>
            <a:ext cx="271760" cy="298936"/>
          </a:xfrm>
          <a:prstGeom prst="roundRect">
            <a:avLst>
              <a:gd name="adj" fmla="val 26170"/>
            </a:avLst>
          </a:prstGeom>
          <a:solidFill>
            <a:srgbClr val="E879A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879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010" dirty="0"/>
          </a:p>
        </p:txBody>
      </p:sp>
      <p:sp>
        <p:nvSpPr>
          <p:cNvPr id="17" name="Text 13"/>
          <p:cNvSpPr/>
          <p:nvPr/>
        </p:nvSpPr>
        <p:spPr>
          <a:xfrm>
            <a:off x="5639842" y="1463427"/>
            <a:ext cx="1358310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05"/>
              </a:lnSpc>
              <a:buNone/>
            </a:pPr>
            <a:r>
              <a:rPr lang="en-US" sz="107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Numerical Validation</a:t>
            </a:r>
            <a:endParaRPr lang="en-US" sz="1070" dirty="0"/>
          </a:p>
        </p:txBody>
      </p:sp>
      <p:sp>
        <p:nvSpPr>
          <p:cNvPr id="18" name="Text 14"/>
          <p:cNvSpPr/>
          <p:nvPr/>
        </p:nvSpPr>
        <p:spPr>
          <a:xfrm>
            <a:off x="5297091" y="1758404"/>
            <a:ext cx="3228886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Runge-Kutta method (RK45) via </a:t>
            </a:r>
            <a:pPr algn="l" indent="0" marL="0">
              <a:lnSpc>
                <a:spcPts val="1312"/>
              </a:lnSpc>
              <a:buNone/>
            </a:pPr>
            <a:r>
              <a:rPr lang="en-US" sz="760" dirty="0">
                <a:solidFill>
                  <a:srgbClr val="E8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solve_ivp</a:t>
            </a:r>
            <a:pPr algn="l" indent="0" marL="0">
              <a:lnSpc>
                <a:spcPts val="1312"/>
              </a:lnSpc>
              <a:buNone/>
            </a:pPr>
            <a:r>
              <a:rPr lang="en-US" sz="82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provides a robust and accurate numerical approximation of the nonlinear system behavior.</a:t>
            </a:r>
            <a:endParaRPr lang="en-US" sz="820" dirty="0"/>
          </a:p>
        </p:txBody>
      </p:sp>
      <p:sp>
        <p:nvSpPr>
          <p:cNvPr id="19" name="Text 15"/>
          <p:cNvSpPr/>
          <p:nvPr/>
        </p:nvSpPr>
        <p:spPr>
          <a:xfrm>
            <a:off x="457200" y="2940397"/>
            <a:ext cx="4043065" cy="1577727"/>
          </a:xfrm>
          <a:prstGeom prst="roundRect">
            <a:avLst>
              <a:gd name="adj" fmla="val 7245"/>
            </a:avLst>
          </a:prstGeom>
          <a:solidFill>
            <a:srgbClr val="1F1335"/>
          </a:solidFill>
          <a:ln w="9525">
            <a:solidFill>
              <a:srgbClr val="E879A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81335" y="3150543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9B6DFF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501" y="3241709"/>
            <a:ext cx="132588" cy="1325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10555" y="3150543"/>
            <a:ext cx="271760" cy="298936"/>
          </a:xfrm>
          <a:prstGeom prst="roundRect">
            <a:avLst>
              <a:gd name="adj" fmla="val 26170"/>
            </a:avLst>
          </a:prstGeom>
          <a:solidFill>
            <a:srgbClr val="E879A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879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010" dirty="0"/>
          </a:p>
        </p:txBody>
      </p:sp>
      <p:sp>
        <p:nvSpPr>
          <p:cNvPr id="23" name="Text 18"/>
          <p:cNvSpPr/>
          <p:nvPr/>
        </p:nvSpPr>
        <p:spPr>
          <a:xfrm>
            <a:off x="1453307" y="3184475"/>
            <a:ext cx="1244858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05"/>
              </a:lnSpc>
              <a:buNone/>
            </a:pPr>
            <a:r>
              <a:rPr lang="en-US" sz="107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Energy Dissipation</a:t>
            </a:r>
            <a:endParaRPr lang="en-US" sz="1070" dirty="0"/>
          </a:p>
        </p:txBody>
      </p:sp>
      <p:sp>
        <p:nvSpPr>
          <p:cNvPr id="24" name="Text 19"/>
          <p:cNvSpPr/>
          <p:nvPr/>
        </p:nvSpPr>
        <p:spPr>
          <a:xfrm>
            <a:off x="1110555" y="3479453"/>
            <a:ext cx="3228886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mechanical energy decays exponentially over time, consistent with the linear damping model. The oscillation amplitude decreases progressively, leading to smaller and slower swings.</a:t>
            </a:r>
            <a:endParaRPr lang="en-US" sz="820" dirty="0"/>
          </a:p>
        </p:txBody>
      </p:sp>
      <p:sp>
        <p:nvSpPr>
          <p:cNvPr id="25" name="Text 20"/>
          <p:cNvSpPr/>
          <p:nvPr/>
        </p:nvSpPr>
        <p:spPr>
          <a:xfrm>
            <a:off x="4643735" y="2940397"/>
            <a:ext cx="4043065" cy="1577727"/>
          </a:xfrm>
          <a:prstGeom prst="roundRect">
            <a:avLst>
              <a:gd name="adj" fmla="val 7245"/>
            </a:avLst>
          </a:prstGeom>
          <a:solidFill>
            <a:srgbClr val="1F1335"/>
          </a:solidFill>
          <a:ln w="9525">
            <a:solidFill>
              <a:srgbClr val="E879A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867870" y="3150543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9B6DFF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59036" y="3241709"/>
            <a:ext cx="132588" cy="1325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97091" y="3150543"/>
            <a:ext cx="271760" cy="298936"/>
          </a:xfrm>
          <a:prstGeom prst="roundRect">
            <a:avLst>
              <a:gd name="adj" fmla="val 26170"/>
            </a:avLst>
          </a:prstGeom>
          <a:solidFill>
            <a:srgbClr val="E879A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879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010" dirty="0"/>
          </a:p>
        </p:txBody>
      </p:sp>
      <p:sp>
        <p:nvSpPr>
          <p:cNvPr id="29" name="Text 23"/>
          <p:cNvSpPr/>
          <p:nvPr/>
        </p:nvSpPr>
        <p:spPr>
          <a:xfrm>
            <a:off x="5639842" y="3184475"/>
            <a:ext cx="835417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05"/>
              </a:lnSpc>
              <a:buNone/>
            </a:pPr>
            <a:r>
              <a:rPr lang="en-US" sz="107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Wind Effects</a:t>
            </a:r>
            <a:endParaRPr lang="en-US" sz="1070" dirty="0"/>
          </a:p>
        </p:txBody>
      </p:sp>
      <p:sp>
        <p:nvSpPr>
          <p:cNvPr id="30" name="Text 24"/>
          <p:cNvSpPr/>
          <p:nvPr/>
        </p:nvSpPr>
        <p:spPr>
          <a:xfrm>
            <a:off x="5297091" y="3479453"/>
            <a:ext cx="3228886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constant wind force shifts the equilibrium position and introduces asymmetry in the oscillation pattern, demonstrating the coupling between external forcing and pendulum geometry.</a:t>
            </a:r>
            <a:endParaRPr lang="en-US" sz="820" dirty="0"/>
          </a:p>
        </p:txBody>
      </p:sp>
      <p:sp>
        <p:nvSpPr>
          <p:cNvPr id="31" name="Text 25"/>
          <p:cNvSpPr/>
          <p:nvPr/>
        </p:nvSpPr>
        <p:spPr>
          <a:xfrm>
            <a:off x="457200" y="4730502"/>
            <a:ext cx="57150" cy="57150"/>
          </a:xfrm>
          <a:prstGeom prst="ellipse">
            <a:avLst/>
          </a:prstGeom>
          <a:solidFill>
            <a:srgbClr val="E879A8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600670" y="4755207"/>
            <a:ext cx="4377333" cy="7590"/>
          </a:xfrm>
          <a:prstGeom prst="rect">
            <a:avLst/>
          </a:prstGeom>
          <a:gradFill rotWithShape="1">
            <a:gsLst>
              <a:gs pos="0">
                <a:srgbClr val="E879A8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5064323" y="4689574"/>
            <a:ext cx="398472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i="1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validates theoretical predictions for damped, wind-forced pendulum dynamics</a:t>
            </a:r>
            <a:endParaRPr lang="en-US" sz="730" dirty="0"/>
          </a:p>
        </p:txBody>
      </p:sp>
      <p:sp>
        <p:nvSpPr>
          <p:cNvPr id="34" name="Text 28"/>
          <p:cNvSpPr/>
          <p:nvPr/>
        </p:nvSpPr>
        <p:spPr>
          <a:xfrm>
            <a:off x="466725" y="1228874"/>
            <a:ext cx="29170" cy="1558528"/>
          </a:xfrm>
          <a:custGeom>
            <a:avLst/>
            <a:gdLst/>
            <a:ahLst/>
            <a:cxnLst/>
            <a:rect l="l" t="t" r="r" b="b"/>
            <a:pathLst>
              <a:path w="29170" h="1558528">
                <a:moveTo>
                  <a:pt x="0" y="114300"/>
                </a:moveTo>
                <a:lnTo>
                  <a:pt x="3646" y="85660"/>
                </a:lnTo>
                <a:lnTo>
                  <a:pt x="7293" y="74127"/>
                </a:lnTo>
                <a:lnTo>
                  <a:pt x="10939" y="65505"/>
                </a:lnTo>
                <a:lnTo>
                  <a:pt x="14585" y="58430"/>
                </a:lnTo>
                <a:lnTo>
                  <a:pt x="18231" y="52370"/>
                </a:lnTo>
                <a:lnTo>
                  <a:pt x="21878" y="47050"/>
                </a:lnTo>
                <a:lnTo>
                  <a:pt x="25524" y="42305"/>
                </a:lnTo>
                <a:lnTo>
                  <a:pt x="29170" y="38028"/>
                </a:lnTo>
                <a:lnTo>
                  <a:pt x="29170" y="1520500"/>
                </a:lnTo>
                <a:lnTo>
                  <a:pt x="25524" y="1516223"/>
                </a:lnTo>
                <a:lnTo>
                  <a:pt x="21878" y="1511479"/>
                </a:lnTo>
                <a:lnTo>
                  <a:pt x="18231" y="1506158"/>
                </a:lnTo>
                <a:lnTo>
                  <a:pt x="14585" y="1500098"/>
                </a:lnTo>
                <a:lnTo>
                  <a:pt x="10939" y="1493023"/>
                </a:lnTo>
                <a:lnTo>
                  <a:pt x="7293" y="1484402"/>
                </a:lnTo>
                <a:lnTo>
                  <a:pt x="3646" y="1472868"/>
                </a:lnTo>
                <a:lnTo>
                  <a:pt x="0" y="1444228"/>
                </a:lnTo>
                <a:close/>
              </a:path>
            </a:pathLst>
          </a:custGeom>
          <a:solidFill>
            <a:srgbClr val="E879A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4653260" y="1228874"/>
            <a:ext cx="29170" cy="1558528"/>
          </a:xfrm>
          <a:custGeom>
            <a:avLst/>
            <a:gdLst/>
            <a:ahLst/>
            <a:cxnLst/>
            <a:rect l="l" t="t" r="r" b="b"/>
            <a:pathLst>
              <a:path w="29170" h="1558528">
                <a:moveTo>
                  <a:pt x="0" y="114300"/>
                </a:moveTo>
                <a:lnTo>
                  <a:pt x="3646" y="85660"/>
                </a:lnTo>
                <a:lnTo>
                  <a:pt x="7293" y="74127"/>
                </a:lnTo>
                <a:lnTo>
                  <a:pt x="10939" y="65505"/>
                </a:lnTo>
                <a:lnTo>
                  <a:pt x="14585" y="58430"/>
                </a:lnTo>
                <a:lnTo>
                  <a:pt x="18231" y="52370"/>
                </a:lnTo>
                <a:lnTo>
                  <a:pt x="21878" y="47050"/>
                </a:lnTo>
                <a:lnTo>
                  <a:pt x="25524" y="42305"/>
                </a:lnTo>
                <a:lnTo>
                  <a:pt x="29170" y="38028"/>
                </a:lnTo>
                <a:lnTo>
                  <a:pt x="29170" y="1520500"/>
                </a:lnTo>
                <a:lnTo>
                  <a:pt x="25524" y="1516223"/>
                </a:lnTo>
                <a:lnTo>
                  <a:pt x="21878" y="1511479"/>
                </a:lnTo>
                <a:lnTo>
                  <a:pt x="18231" y="1506158"/>
                </a:lnTo>
                <a:lnTo>
                  <a:pt x="14585" y="1500098"/>
                </a:lnTo>
                <a:lnTo>
                  <a:pt x="10939" y="1493023"/>
                </a:lnTo>
                <a:lnTo>
                  <a:pt x="7293" y="1484402"/>
                </a:lnTo>
                <a:lnTo>
                  <a:pt x="3646" y="1472868"/>
                </a:lnTo>
                <a:lnTo>
                  <a:pt x="0" y="1444228"/>
                </a:lnTo>
                <a:close/>
              </a:path>
            </a:pathLst>
          </a:custGeom>
          <a:solidFill>
            <a:srgbClr val="E879A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466725" y="2949922"/>
            <a:ext cx="29170" cy="1558681"/>
          </a:xfrm>
          <a:custGeom>
            <a:avLst/>
            <a:gdLst/>
            <a:ahLst/>
            <a:cxnLst/>
            <a:rect l="l" t="t" r="r" b="b"/>
            <a:pathLst>
              <a:path w="29170" h="1558681">
                <a:moveTo>
                  <a:pt x="0" y="114300"/>
                </a:moveTo>
                <a:lnTo>
                  <a:pt x="3646" y="85660"/>
                </a:lnTo>
                <a:lnTo>
                  <a:pt x="7293" y="74127"/>
                </a:lnTo>
                <a:lnTo>
                  <a:pt x="10939" y="65505"/>
                </a:lnTo>
                <a:lnTo>
                  <a:pt x="14585" y="58430"/>
                </a:lnTo>
                <a:lnTo>
                  <a:pt x="18231" y="52370"/>
                </a:lnTo>
                <a:lnTo>
                  <a:pt x="21878" y="47050"/>
                </a:lnTo>
                <a:lnTo>
                  <a:pt x="25524" y="42305"/>
                </a:lnTo>
                <a:lnTo>
                  <a:pt x="29170" y="38028"/>
                </a:lnTo>
                <a:lnTo>
                  <a:pt x="29170" y="1520653"/>
                </a:lnTo>
                <a:lnTo>
                  <a:pt x="25524" y="1516376"/>
                </a:lnTo>
                <a:lnTo>
                  <a:pt x="21878" y="1511631"/>
                </a:lnTo>
                <a:lnTo>
                  <a:pt x="18231" y="1506311"/>
                </a:lnTo>
                <a:lnTo>
                  <a:pt x="14585" y="1500250"/>
                </a:lnTo>
                <a:lnTo>
                  <a:pt x="10939" y="1493176"/>
                </a:lnTo>
                <a:lnTo>
                  <a:pt x="7293" y="1484554"/>
                </a:lnTo>
                <a:lnTo>
                  <a:pt x="3646" y="1473020"/>
                </a:lnTo>
                <a:lnTo>
                  <a:pt x="0" y="1444381"/>
                </a:lnTo>
                <a:close/>
              </a:path>
            </a:pathLst>
          </a:custGeom>
          <a:solidFill>
            <a:srgbClr val="E879A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4653260" y="2949922"/>
            <a:ext cx="29170" cy="1558681"/>
          </a:xfrm>
          <a:custGeom>
            <a:avLst/>
            <a:gdLst/>
            <a:ahLst/>
            <a:cxnLst/>
            <a:rect l="l" t="t" r="r" b="b"/>
            <a:pathLst>
              <a:path w="29170" h="1558681">
                <a:moveTo>
                  <a:pt x="0" y="114300"/>
                </a:moveTo>
                <a:lnTo>
                  <a:pt x="3646" y="85660"/>
                </a:lnTo>
                <a:lnTo>
                  <a:pt x="7293" y="74127"/>
                </a:lnTo>
                <a:lnTo>
                  <a:pt x="10939" y="65505"/>
                </a:lnTo>
                <a:lnTo>
                  <a:pt x="14585" y="58430"/>
                </a:lnTo>
                <a:lnTo>
                  <a:pt x="18231" y="52370"/>
                </a:lnTo>
                <a:lnTo>
                  <a:pt x="21878" y="47050"/>
                </a:lnTo>
                <a:lnTo>
                  <a:pt x="25524" y="42305"/>
                </a:lnTo>
                <a:lnTo>
                  <a:pt x="29170" y="38028"/>
                </a:lnTo>
                <a:lnTo>
                  <a:pt x="29170" y="1520653"/>
                </a:lnTo>
                <a:lnTo>
                  <a:pt x="25524" y="1516376"/>
                </a:lnTo>
                <a:lnTo>
                  <a:pt x="21878" y="1511631"/>
                </a:lnTo>
                <a:lnTo>
                  <a:pt x="18231" y="1506311"/>
                </a:lnTo>
                <a:lnTo>
                  <a:pt x="14585" y="1500250"/>
                </a:lnTo>
                <a:lnTo>
                  <a:pt x="10939" y="1493176"/>
                </a:lnTo>
                <a:lnTo>
                  <a:pt x="7293" y="1484554"/>
                </a:lnTo>
                <a:lnTo>
                  <a:pt x="3646" y="1473020"/>
                </a:lnTo>
                <a:lnTo>
                  <a:pt x="0" y="1444381"/>
                </a:lnTo>
                <a:close/>
              </a:path>
            </a:pathLst>
          </a:custGeom>
          <a:solidFill>
            <a:srgbClr val="E879A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44297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6470"/>
            <a:ext cx="4000500" cy="38570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12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6219" y="0"/>
            <a:ext cx="1071563" cy="385762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906167" y="1581745"/>
            <a:ext cx="3331666" cy="7542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940"/>
              </a:lnSpc>
              <a:buNone/>
            </a:pPr>
            <a:r>
              <a:rPr lang="en-US" sz="5400" spc="-60" kern="0" dirty="0">
                <a:solidFill>
                  <a:srgbClr val="F0E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1"/>
          <p:cNvSpPr/>
          <p:nvPr/>
        </p:nvSpPr>
        <p:spPr>
          <a:xfrm>
            <a:off x="4286250" y="2564606"/>
            <a:ext cx="571500" cy="13841"/>
          </a:xfrm>
          <a:prstGeom prst="roundRect">
            <a:avLst>
              <a:gd name="adj" fmla="val 100932"/>
            </a:avLst>
          </a:prstGeom>
          <a:solidFill>
            <a:srgbClr val="E879A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4082348" y="2807047"/>
            <a:ext cx="979155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84"/>
              </a:lnSpc>
              <a:buNone/>
            </a:pPr>
            <a:r>
              <a:rPr lang="en-US" sz="1240" spc="30" kern="0" dirty="0">
                <a:solidFill>
                  <a:srgbClr val="B8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Kadie White</a:t>
            </a:r>
            <a:endParaRPr lang="en-US" sz="1240" dirty="0"/>
          </a:p>
        </p:txBody>
      </p:sp>
      <p:sp>
        <p:nvSpPr>
          <p:cNvPr id="8" name="Text 3"/>
          <p:cNvSpPr/>
          <p:nvPr/>
        </p:nvSpPr>
        <p:spPr>
          <a:xfrm>
            <a:off x="2994511" y="3420814"/>
            <a:ext cx="330827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0"/>
              </a:lnSpc>
              <a:spcBef>
                <a:spcPts val="2700"/>
              </a:spcBef>
              <a:buNone/>
            </a:pPr>
            <a:r>
              <a:rPr lang="en-US" sz="840" spc="20" kern="0" dirty="0">
                <a:solidFill>
                  <a:srgbClr val="5B8DE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source code and full analysis available on GitHub</a:t>
            </a:r>
            <a:endParaRPr lang="en-US" sz="84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3372" y="3415391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docgen</cp:lastModifiedBy>
  <cp:revision>1</cp:revision>
  <dcterms:created xsi:type="dcterms:W3CDTF">2026-04-25T22:10:56Z</dcterms:created>
  <dcterms:modified xsi:type="dcterms:W3CDTF">2026-04-25T22:10:56Z</dcterms:modified>
</cp:coreProperties>
</file>